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0264100" cy="42799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lvl1pPr>
    <a:lvl2pPr marL="0" marR="0" indent="434979"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lvl2pPr>
    <a:lvl3pPr marL="0" marR="0" indent="869959"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lvl3pPr>
    <a:lvl4pPr marL="0" marR="0" indent="1304940"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lvl4pPr>
    <a:lvl5pPr marL="0" marR="0" indent="1739919"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lvl5pPr>
    <a:lvl6pPr marL="0" marR="0" indent="2174899"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lvl6pPr>
    <a:lvl7pPr marL="0" marR="0" indent="2609880"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lvl7pPr>
    <a:lvl8pPr marL="0" marR="0" indent="3044861"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lvl8pPr>
    <a:lvl9pPr marL="0" marR="0" indent="3479841"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823E"/>
    <a:srgbClr val="15431F"/>
    <a:srgbClr val="0B8F37"/>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E7F3F4"/>
          </a:solidFill>
        </a:fill>
      </a:tcStyle>
    </a:wholeTbl>
    <a:band2H>
      <a:tcTxStyle/>
      <a:tcStyle>
        <a:tcBdr/>
        <a:fill>
          <a:solidFill>
            <a:srgbClr val="F3F9FA"/>
          </a:solidFill>
        </a:fill>
      </a:tcStyle>
    </a:band2H>
    <a:firstCol>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Col>
    <a:la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lastRow>
    <a:fir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wholeTbl>
    <a:band2H>
      <a:tcTxStyle/>
      <a:tcStyle>
        <a:tcBdr/>
        <a:fill>
          <a:solidFill>
            <a:schemeClr val="accent3">
              <a:lumOff val="44000"/>
            </a:schemeClr>
          </a:solidFill>
        </a:fill>
      </a:tcStyle>
    </a:band2H>
    <a:firstCol>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Col>
    <a:la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lastRow>
    <a:fir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Row>
  </a:tblStyle>
  <a:tblStyle styleId="{EEE7283C-3CF3-47DC-8721-378D4A62B228}" styleName="">
    <a:tblBg/>
    <a:wholeTbl>
      <a:tcTxStyle b="off" i="off">
        <a:fontRef idx="maj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CCCD9"/>
          </a:solidFill>
        </a:fill>
      </a:tcStyle>
    </a:wholeTbl>
    <a:band2H>
      <a:tcTxStyle/>
      <a:tcStyle>
        <a:tcBdr/>
        <a:fill>
          <a:solidFill>
            <a:srgbClr val="E7E7ED"/>
          </a:solidFill>
        </a:fill>
      </a:tcStyle>
    </a:band2H>
    <a:firstCol>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Col>
    <a:la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lastRow>
    <a:fir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lumOff val="44000"/>
            </a:schemeClr>
          </a:solidFill>
        </a:fill>
      </a:tcStyle>
    </a:band2H>
    <a:firstCol>
      <a:tcTxStyle b="on" i="off">
        <a:fontRef idx="major">
          <a:schemeClr val="accent3">
            <a:lumOff val="44000"/>
          </a:schemeClr>
        </a:fontRef>
        <a:schemeClr val="accent3">
          <a:lumOff val="44000"/>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lumOff val="44000"/>
            </a:schemeClr>
          </a:solidFill>
        </a:fill>
      </a:tcStyle>
    </a:lastRow>
    <a:firstRow>
      <a:tcTxStyle b="on" i="off">
        <a:fontRef idx="major">
          <a:schemeClr val="accent3">
            <a:lumOff val="44000"/>
          </a:schemeClr>
        </a:fontRef>
        <a:schemeClr val="accent3">
          <a:lumOff val="44000"/>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Col>
    <a:la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lastRow>
    <a:fir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chemeClr val="accent3">
              <a:lumOff val="44000"/>
            </a:schemeClr>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4" d="100"/>
          <a:sy n="24" d="100"/>
        </p:scale>
        <p:origin x="4050" y="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Shape 18"/>
          <p:cNvSpPr>
            <a:spLocks noGrp="1" noRot="1" noChangeAspect="1"/>
          </p:cNvSpPr>
          <p:nvPr>
            <p:ph type="sldImg"/>
          </p:nvPr>
        </p:nvSpPr>
        <p:spPr>
          <a:xfrm>
            <a:off x="1143000" y="685800"/>
            <a:ext cx="4572000" cy="3429000"/>
          </a:xfrm>
          <a:prstGeom prst="rect">
            <a:avLst/>
          </a:prstGeom>
        </p:spPr>
        <p:txBody>
          <a:bodyPr/>
          <a:lstStyle/>
          <a:p>
            <a:endParaRPr/>
          </a:p>
        </p:txBody>
      </p:sp>
      <p:sp>
        <p:nvSpPr>
          <p:cNvPr id="19" name="Shape 1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300"/>
      </a:spcBef>
      <a:defRPr sz="1100">
        <a:latin typeface="+mj-lt"/>
        <a:ea typeface="+mj-ea"/>
        <a:cs typeface="+mj-cs"/>
        <a:sym typeface="Arial"/>
      </a:defRPr>
    </a:lvl1pPr>
    <a:lvl2pPr indent="228600" latinLnBrk="0">
      <a:spcBef>
        <a:spcPts val="300"/>
      </a:spcBef>
      <a:defRPr sz="1100">
        <a:latin typeface="+mj-lt"/>
        <a:ea typeface="+mj-ea"/>
        <a:cs typeface="+mj-cs"/>
        <a:sym typeface="Arial"/>
      </a:defRPr>
    </a:lvl2pPr>
    <a:lvl3pPr indent="457200" latinLnBrk="0">
      <a:spcBef>
        <a:spcPts val="300"/>
      </a:spcBef>
      <a:defRPr sz="1100">
        <a:latin typeface="+mj-lt"/>
        <a:ea typeface="+mj-ea"/>
        <a:cs typeface="+mj-cs"/>
        <a:sym typeface="Arial"/>
      </a:defRPr>
    </a:lvl3pPr>
    <a:lvl4pPr indent="685800" latinLnBrk="0">
      <a:spcBef>
        <a:spcPts val="300"/>
      </a:spcBef>
      <a:defRPr sz="1100">
        <a:latin typeface="+mj-lt"/>
        <a:ea typeface="+mj-ea"/>
        <a:cs typeface="+mj-cs"/>
        <a:sym typeface="Arial"/>
      </a:defRPr>
    </a:lvl4pPr>
    <a:lvl5pPr indent="914400" latinLnBrk="0">
      <a:spcBef>
        <a:spcPts val="300"/>
      </a:spcBef>
      <a:defRPr sz="1100">
        <a:latin typeface="+mj-lt"/>
        <a:ea typeface="+mj-ea"/>
        <a:cs typeface="+mj-cs"/>
        <a:sym typeface="Arial"/>
      </a:defRPr>
    </a:lvl5pPr>
    <a:lvl6pPr indent="1143000" latinLnBrk="0">
      <a:spcBef>
        <a:spcPts val="300"/>
      </a:spcBef>
      <a:defRPr sz="1100">
        <a:latin typeface="+mj-lt"/>
        <a:ea typeface="+mj-ea"/>
        <a:cs typeface="+mj-cs"/>
        <a:sym typeface="Arial"/>
      </a:defRPr>
    </a:lvl6pPr>
    <a:lvl7pPr indent="1371600" latinLnBrk="0">
      <a:spcBef>
        <a:spcPts val="300"/>
      </a:spcBef>
      <a:defRPr sz="1100">
        <a:latin typeface="+mj-lt"/>
        <a:ea typeface="+mj-ea"/>
        <a:cs typeface="+mj-cs"/>
        <a:sym typeface="Arial"/>
      </a:defRPr>
    </a:lvl7pPr>
    <a:lvl8pPr indent="1600200" latinLnBrk="0">
      <a:spcBef>
        <a:spcPts val="300"/>
      </a:spcBef>
      <a:defRPr sz="1100">
        <a:latin typeface="+mj-lt"/>
        <a:ea typeface="+mj-ea"/>
        <a:cs typeface="+mj-cs"/>
        <a:sym typeface="Arial"/>
      </a:defRPr>
    </a:lvl8pPr>
    <a:lvl9pPr indent="1828800" latinLnBrk="0">
      <a:spcBef>
        <a:spcPts val="300"/>
      </a:spcBef>
      <a:defRPr sz="1100">
        <a:latin typeface="+mj-lt"/>
        <a:ea typeface="+mj-ea"/>
        <a:cs typeface="+mj-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2"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808080"/>
        </a:solidFill>
        <a:effectLst/>
      </p:bgPr>
    </p:bg>
    <p:spTree>
      <p:nvGrpSpPr>
        <p:cNvPr id="1" name=""/>
        <p:cNvGrpSpPr/>
        <p:nvPr/>
      </p:nvGrpSpPr>
      <p:grpSpPr>
        <a:xfrm>
          <a:off x="0" y="0"/>
          <a:ext cx="0" cy="0"/>
          <a:chOff x="0" y="0"/>
          <a:chExt cx="0" cy="0"/>
        </a:xfrm>
      </p:grpSpPr>
      <p:sp>
        <p:nvSpPr>
          <p:cNvPr id="2" name="TextBox 1"/>
          <p:cNvSpPr txBox="1"/>
          <p:nvPr/>
        </p:nvSpPr>
        <p:spPr>
          <a:xfrm>
            <a:off x="42701" y="42680650"/>
            <a:ext cx="376584" cy="127001"/>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lvl1pPr>
              <a:defRPr sz="200">
                <a:solidFill>
                  <a:srgbClr val="003064"/>
                </a:solidFill>
              </a:defRPr>
            </a:lvl1pPr>
          </a:lstStyle>
          <a:p>
            <a:r>
              <a:t>www.postersession.com</a:t>
            </a:r>
          </a:p>
        </p:txBody>
      </p:sp>
      <p:sp>
        <p:nvSpPr>
          <p:cNvPr id="3" name="Texte du titre"/>
          <p:cNvSpPr txBox="1">
            <a:spLocks noGrp="1"/>
          </p:cNvSpPr>
          <p:nvPr>
            <p:ph type="title"/>
          </p:nvPr>
        </p:nvSpPr>
        <p:spPr>
          <a:xfrm>
            <a:off x="1513205" y="574616"/>
            <a:ext cx="27237690" cy="9411818"/>
          </a:xfrm>
          <a:prstGeom prst="rect">
            <a:avLst/>
          </a:prstGeom>
          <a:ln w="12700">
            <a:miter lim="400000"/>
          </a:ln>
          <a:extLst>
            <a:ext uri="{C572A759-6A51-4108-AA02-DFA0A04FC94B}">
              <ma14:wrappingTextBoxFlag xmlns="" xmlns:ma14="http://schemas.microsoft.com/office/mac/drawingml/2011/main" val="1"/>
            </a:ext>
          </a:extLst>
        </p:spPr>
        <p:txBody>
          <a:bodyPr lIns="45719" rIns="45719" anchor="ctr"/>
          <a:lstStyle/>
          <a:p>
            <a:r>
              <a:t>Texte du titre</a:t>
            </a:r>
          </a:p>
        </p:txBody>
      </p:sp>
      <p:sp>
        <p:nvSpPr>
          <p:cNvPr id="4" name="Texte niveau 1…"/>
          <p:cNvSpPr txBox="1">
            <a:spLocks noGrp="1"/>
          </p:cNvSpPr>
          <p:nvPr>
            <p:ph type="body" idx="1"/>
          </p:nvPr>
        </p:nvSpPr>
        <p:spPr>
          <a:xfrm>
            <a:off x="1513205" y="9986433"/>
            <a:ext cx="27237690" cy="32812568"/>
          </a:xfrm>
          <a:prstGeom prst="rect">
            <a:avLst/>
          </a:prstGeom>
          <a:ln w="12700">
            <a:miter lim="400000"/>
          </a:ln>
          <a:extLst>
            <a:ext uri="{C572A759-6A51-4108-AA02-DFA0A04FC94B}">
              <ma14:wrappingTextBoxFlag xmlns="" xmlns:ma14="http://schemas.microsoft.com/office/mac/drawingml/2011/main" val="1"/>
            </a:ext>
          </a:extLst>
        </p:spPr>
        <p:txBody>
          <a:bodyPr lIns="45719" rIns="45719"/>
          <a:lstStyle/>
          <a:p>
            <a:r>
              <a:t>Texte niveau 1</a:t>
            </a:r>
          </a:p>
          <a:p>
            <a:pPr lvl="1"/>
            <a:r>
              <a:t>Texte niveau 2</a:t>
            </a:r>
          </a:p>
          <a:p>
            <a:pPr lvl="2"/>
            <a:r>
              <a:t>Texte niveau 3</a:t>
            </a:r>
          </a:p>
          <a:p>
            <a:pPr lvl="3"/>
            <a:r>
              <a:t>Texte niveau 4</a:t>
            </a:r>
          </a:p>
          <a:p>
            <a:pPr lvl="4"/>
            <a:r>
              <a:t>Texte niveau 5</a:t>
            </a:r>
          </a:p>
        </p:txBody>
      </p:sp>
      <p:sp>
        <p:nvSpPr>
          <p:cNvPr id="5" name="Numéro de diapositive"/>
          <p:cNvSpPr txBox="1">
            <a:spLocks noGrp="1"/>
          </p:cNvSpPr>
          <p:nvPr>
            <p:ph type="sldNum" sz="quarter" idx="2"/>
          </p:nvPr>
        </p:nvSpPr>
        <p:spPr>
          <a:xfrm>
            <a:off x="14627648" y="38529006"/>
            <a:ext cx="7061624" cy="2278652"/>
          </a:xfrm>
          <a:prstGeom prst="rect">
            <a:avLst/>
          </a:prstGeom>
          <a:ln w="12700">
            <a:miter lim="400000"/>
          </a:ln>
        </p:spPr>
        <p:txBody>
          <a:bodyPr wrap="none" lIns="45719" rIns="45719" anchor="ctr">
            <a:spAutoFit/>
          </a:bodyPr>
          <a:lstStyle>
            <a:lvl1pPr algn="r">
              <a:defRPr sz="1200"/>
            </a:lvl1pPr>
          </a:lstStyle>
          <a:p>
            <a:fld id="{86CB4B4D-7CA3-9044-876B-883B54F8677D}"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4176110" rtl="0" latinLnBrk="0">
        <a:lnSpc>
          <a:spcPct val="100000"/>
        </a:lnSpc>
        <a:spcBef>
          <a:spcPts val="0"/>
        </a:spcBef>
        <a:spcAft>
          <a:spcPts val="0"/>
        </a:spcAft>
        <a:buClrTx/>
        <a:buSzTx/>
        <a:buFontTx/>
        <a:buNone/>
        <a:tabLst/>
        <a:defRPr sz="20100" b="0" i="0" u="none" strike="noStrike" cap="none" spc="0" baseline="0">
          <a:ln>
            <a:noFill/>
          </a:ln>
          <a:solidFill>
            <a:srgbClr val="000000"/>
          </a:solidFill>
          <a:uFillTx/>
          <a:latin typeface="+mj-lt"/>
          <a:ea typeface="+mj-ea"/>
          <a:cs typeface="+mj-cs"/>
          <a:sym typeface="Arial"/>
        </a:defRPr>
      </a:lvl1pPr>
      <a:lvl2pPr marL="0" marR="0" indent="0" algn="ctr" defTabSz="4176110" rtl="0" latinLnBrk="0">
        <a:lnSpc>
          <a:spcPct val="100000"/>
        </a:lnSpc>
        <a:spcBef>
          <a:spcPts val="0"/>
        </a:spcBef>
        <a:spcAft>
          <a:spcPts val="0"/>
        </a:spcAft>
        <a:buClrTx/>
        <a:buSzTx/>
        <a:buFontTx/>
        <a:buNone/>
        <a:tabLst/>
        <a:defRPr sz="20100" b="0" i="0" u="none" strike="noStrike" cap="none" spc="0" baseline="0">
          <a:ln>
            <a:noFill/>
          </a:ln>
          <a:solidFill>
            <a:srgbClr val="000000"/>
          </a:solidFill>
          <a:uFillTx/>
          <a:latin typeface="+mj-lt"/>
          <a:ea typeface="+mj-ea"/>
          <a:cs typeface="+mj-cs"/>
          <a:sym typeface="Arial"/>
        </a:defRPr>
      </a:lvl2pPr>
      <a:lvl3pPr marL="0" marR="0" indent="0" algn="ctr" defTabSz="4176110" rtl="0" latinLnBrk="0">
        <a:lnSpc>
          <a:spcPct val="100000"/>
        </a:lnSpc>
        <a:spcBef>
          <a:spcPts val="0"/>
        </a:spcBef>
        <a:spcAft>
          <a:spcPts val="0"/>
        </a:spcAft>
        <a:buClrTx/>
        <a:buSzTx/>
        <a:buFontTx/>
        <a:buNone/>
        <a:tabLst/>
        <a:defRPr sz="20100" b="0" i="0" u="none" strike="noStrike" cap="none" spc="0" baseline="0">
          <a:ln>
            <a:noFill/>
          </a:ln>
          <a:solidFill>
            <a:srgbClr val="000000"/>
          </a:solidFill>
          <a:uFillTx/>
          <a:latin typeface="+mj-lt"/>
          <a:ea typeface="+mj-ea"/>
          <a:cs typeface="+mj-cs"/>
          <a:sym typeface="Arial"/>
        </a:defRPr>
      </a:lvl3pPr>
      <a:lvl4pPr marL="0" marR="0" indent="0" algn="ctr" defTabSz="4176110" rtl="0" latinLnBrk="0">
        <a:lnSpc>
          <a:spcPct val="100000"/>
        </a:lnSpc>
        <a:spcBef>
          <a:spcPts val="0"/>
        </a:spcBef>
        <a:spcAft>
          <a:spcPts val="0"/>
        </a:spcAft>
        <a:buClrTx/>
        <a:buSzTx/>
        <a:buFontTx/>
        <a:buNone/>
        <a:tabLst/>
        <a:defRPr sz="20100" b="0" i="0" u="none" strike="noStrike" cap="none" spc="0" baseline="0">
          <a:ln>
            <a:noFill/>
          </a:ln>
          <a:solidFill>
            <a:srgbClr val="000000"/>
          </a:solidFill>
          <a:uFillTx/>
          <a:latin typeface="+mj-lt"/>
          <a:ea typeface="+mj-ea"/>
          <a:cs typeface="+mj-cs"/>
          <a:sym typeface="Arial"/>
        </a:defRPr>
      </a:lvl4pPr>
      <a:lvl5pPr marL="0" marR="0" indent="0" algn="ctr" defTabSz="4176110" rtl="0" latinLnBrk="0">
        <a:lnSpc>
          <a:spcPct val="100000"/>
        </a:lnSpc>
        <a:spcBef>
          <a:spcPts val="0"/>
        </a:spcBef>
        <a:spcAft>
          <a:spcPts val="0"/>
        </a:spcAft>
        <a:buClrTx/>
        <a:buSzTx/>
        <a:buFontTx/>
        <a:buNone/>
        <a:tabLst/>
        <a:defRPr sz="20100" b="0" i="0" u="none" strike="noStrike" cap="none" spc="0" baseline="0">
          <a:ln>
            <a:noFill/>
          </a:ln>
          <a:solidFill>
            <a:srgbClr val="000000"/>
          </a:solidFill>
          <a:uFillTx/>
          <a:latin typeface="+mj-lt"/>
          <a:ea typeface="+mj-ea"/>
          <a:cs typeface="+mj-cs"/>
          <a:sym typeface="Arial"/>
        </a:defRPr>
      </a:lvl5pPr>
      <a:lvl6pPr marL="0" marR="0" indent="434979" algn="ctr" defTabSz="4176110" rtl="0" latinLnBrk="0">
        <a:lnSpc>
          <a:spcPct val="100000"/>
        </a:lnSpc>
        <a:spcBef>
          <a:spcPts val="0"/>
        </a:spcBef>
        <a:spcAft>
          <a:spcPts val="0"/>
        </a:spcAft>
        <a:buClrTx/>
        <a:buSzTx/>
        <a:buFontTx/>
        <a:buNone/>
        <a:tabLst/>
        <a:defRPr sz="20100" b="0" i="0" u="none" strike="noStrike" cap="none" spc="0" baseline="0">
          <a:ln>
            <a:noFill/>
          </a:ln>
          <a:solidFill>
            <a:srgbClr val="000000"/>
          </a:solidFill>
          <a:uFillTx/>
          <a:latin typeface="+mj-lt"/>
          <a:ea typeface="+mj-ea"/>
          <a:cs typeface="+mj-cs"/>
          <a:sym typeface="Arial"/>
        </a:defRPr>
      </a:lvl6pPr>
      <a:lvl7pPr marL="0" marR="0" indent="869959" algn="ctr" defTabSz="4176110" rtl="0" latinLnBrk="0">
        <a:lnSpc>
          <a:spcPct val="100000"/>
        </a:lnSpc>
        <a:spcBef>
          <a:spcPts val="0"/>
        </a:spcBef>
        <a:spcAft>
          <a:spcPts val="0"/>
        </a:spcAft>
        <a:buClrTx/>
        <a:buSzTx/>
        <a:buFontTx/>
        <a:buNone/>
        <a:tabLst/>
        <a:defRPr sz="20100" b="0" i="0" u="none" strike="noStrike" cap="none" spc="0" baseline="0">
          <a:ln>
            <a:noFill/>
          </a:ln>
          <a:solidFill>
            <a:srgbClr val="000000"/>
          </a:solidFill>
          <a:uFillTx/>
          <a:latin typeface="+mj-lt"/>
          <a:ea typeface="+mj-ea"/>
          <a:cs typeface="+mj-cs"/>
          <a:sym typeface="Arial"/>
        </a:defRPr>
      </a:lvl7pPr>
      <a:lvl8pPr marL="0" marR="0" indent="1304940" algn="ctr" defTabSz="4176110" rtl="0" latinLnBrk="0">
        <a:lnSpc>
          <a:spcPct val="100000"/>
        </a:lnSpc>
        <a:spcBef>
          <a:spcPts val="0"/>
        </a:spcBef>
        <a:spcAft>
          <a:spcPts val="0"/>
        </a:spcAft>
        <a:buClrTx/>
        <a:buSzTx/>
        <a:buFontTx/>
        <a:buNone/>
        <a:tabLst/>
        <a:defRPr sz="20100" b="0" i="0" u="none" strike="noStrike" cap="none" spc="0" baseline="0">
          <a:ln>
            <a:noFill/>
          </a:ln>
          <a:solidFill>
            <a:srgbClr val="000000"/>
          </a:solidFill>
          <a:uFillTx/>
          <a:latin typeface="+mj-lt"/>
          <a:ea typeface="+mj-ea"/>
          <a:cs typeface="+mj-cs"/>
          <a:sym typeface="Arial"/>
        </a:defRPr>
      </a:lvl8pPr>
      <a:lvl9pPr marL="0" marR="0" indent="1739919" algn="ctr" defTabSz="4176110" rtl="0" latinLnBrk="0">
        <a:lnSpc>
          <a:spcPct val="100000"/>
        </a:lnSpc>
        <a:spcBef>
          <a:spcPts val="0"/>
        </a:spcBef>
        <a:spcAft>
          <a:spcPts val="0"/>
        </a:spcAft>
        <a:buClrTx/>
        <a:buSzTx/>
        <a:buFontTx/>
        <a:buNone/>
        <a:tabLst/>
        <a:defRPr sz="20100" b="0" i="0" u="none" strike="noStrike" cap="none" spc="0" baseline="0">
          <a:ln>
            <a:noFill/>
          </a:ln>
          <a:solidFill>
            <a:srgbClr val="000000"/>
          </a:solidFill>
          <a:uFillTx/>
          <a:latin typeface="+mj-lt"/>
          <a:ea typeface="+mj-ea"/>
          <a:cs typeface="+mj-cs"/>
          <a:sym typeface="Arial"/>
        </a:defRPr>
      </a:lvl9pPr>
    </p:titleStyle>
    <p:bodyStyle>
      <a:lvl1pPr marL="1566231" marR="0" indent="-1566231" algn="l" defTabSz="4176110" rtl="0" latinLnBrk="0">
        <a:lnSpc>
          <a:spcPct val="100000"/>
        </a:lnSpc>
        <a:spcBef>
          <a:spcPts val="3500"/>
        </a:spcBef>
        <a:spcAft>
          <a:spcPts val="0"/>
        </a:spcAft>
        <a:buClrTx/>
        <a:buSzPct val="100000"/>
        <a:buFontTx/>
        <a:buChar char="•"/>
        <a:tabLst/>
        <a:defRPr sz="14700" b="0" i="0" u="none" strike="noStrike" cap="none" spc="0" baseline="0">
          <a:ln>
            <a:noFill/>
          </a:ln>
          <a:solidFill>
            <a:srgbClr val="000000"/>
          </a:solidFill>
          <a:uFillTx/>
          <a:latin typeface="+mj-lt"/>
          <a:ea typeface="+mj-ea"/>
          <a:cs typeface="+mj-cs"/>
          <a:sym typeface="Arial"/>
        </a:defRPr>
      </a:lvl1pPr>
      <a:lvl2pPr marL="3597742" marR="0" indent="-1510442" algn="l" defTabSz="4176110" rtl="0" latinLnBrk="0">
        <a:lnSpc>
          <a:spcPct val="100000"/>
        </a:lnSpc>
        <a:spcBef>
          <a:spcPts val="3500"/>
        </a:spcBef>
        <a:spcAft>
          <a:spcPts val="0"/>
        </a:spcAft>
        <a:buClrTx/>
        <a:buSzPct val="100000"/>
        <a:buFontTx/>
        <a:buChar char="–"/>
        <a:tabLst/>
        <a:defRPr sz="14700" b="0" i="0" u="none" strike="noStrike" cap="none" spc="0" baseline="0">
          <a:ln>
            <a:noFill/>
          </a:ln>
          <a:solidFill>
            <a:srgbClr val="000000"/>
          </a:solidFill>
          <a:uFillTx/>
          <a:latin typeface="+mj-lt"/>
          <a:ea typeface="+mj-ea"/>
          <a:cs typeface="+mj-cs"/>
          <a:sym typeface="Arial"/>
        </a:defRPr>
      </a:lvl2pPr>
      <a:lvl3pPr marL="5583602" marR="0" indent="-1407492" algn="l" defTabSz="4176110" rtl="0" latinLnBrk="0">
        <a:lnSpc>
          <a:spcPct val="100000"/>
        </a:lnSpc>
        <a:spcBef>
          <a:spcPts val="3500"/>
        </a:spcBef>
        <a:spcAft>
          <a:spcPts val="0"/>
        </a:spcAft>
        <a:buClrTx/>
        <a:buSzPct val="100000"/>
        <a:buFontTx/>
        <a:buChar char="•"/>
        <a:tabLst/>
        <a:defRPr sz="14700" b="0" i="0" u="none" strike="noStrike" cap="none" spc="0" baseline="0">
          <a:ln>
            <a:noFill/>
          </a:ln>
          <a:solidFill>
            <a:srgbClr val="000000"/>
          </a:solidFill>
          <a:uFillTx/>
          <a:latin typeface="+mj-lt"/>
          <a:ea typeface="+mj-ea"/>
          <a:cs typeface="+mj-cs"/>
          <a:sym typeface="Arial"/>
        </a:defRPr>
      </a:lvl3pPr>
      <a:lvl4pPr marL="7949307" marR="0" indent="-1685897" algn="l" defTabSz="4176110" rtl="0" latinLnBrk="0">
        <a:lnSpc>
          <a:spcPct val="100000"/>
        </a:lnSpc>
        <a:spcBef>
          <a:spcPts val="3500"/>
        </a:spcBef>
        <a:spcAft>
          <a:spcPts val="0"/>
        </a:spcAft>
        <a:buClrTx/>
        <a:buSzPct val="100000"/>
        <a:buFontTx/>
        <a:buChar char="–"/>
        <a:tabLst/>
        <a:defRPr sz="14700" b="0" i="0" u="none" strike="noStrike" cap="none" spc="0" baseline="0">
          <a:ln>
            <a:noFill/>
          </a:ln>
          <a:solidFill>
            <a:srgbClr val="000000"/>
          </a:solidFill>
          <a:uFillTx/>
          <a:latin typeface="+mj-lt"/>
          <a:ea typeface="+mj-ea"/>
          <a:cs typeface="+mj-cs"/>
          <a:sym typeface="Arial"/>
        </a:defRPr>
      </a:lvl4pPr>
      <a:lvl5pPr marL="10038119" marR="0" indent="-1685897" algn="l" defTabSz="4176110" rtl="0" latinLnBrk="0">
        <a:lnSpc>
          <a:spcPct val="100000"/>
        </a:lnSpc>
        <a:spcBef>
          <a:spcPts val="3500"/>
        </a:spcBef>
        <a:spcAft>
          <a:spcPts val="0"/>
        </a:spcAft>
        <a:buClrTx/>
        <a:buSzPct val="100000"/>
        <a:buFontTx/>
        <a:buChar char="»"/>
        <a:tabLst/>
        <a:defRPr sz="14700" b="0" i="0" u="none" strike="noStrike" cap="none" spc="0" baseline="0">
          <a:ln>
            <a:noFill/>
          </a:ln>
          <a:solidFill>
            <a:srgbClr val="000000"/>
          </a:solidFill>
          <a:uFillTx/>
          <a:latin typeface="+mj-lt"/>
          <a:ea typeface="+mj-ea"/>
          <a:cs typeface="+mj-cs"/>
          <a:sym typeface="Arial"/>
        </a:defRPr>
      </a:lvl5pPr>
      <a:lvl6pPr marL="10473098" marR="0" indent="-1685897" algn="l" defTabSz="4176110" rtl="0" latinLnBrk="0">
        <a:lnSpc>
          <a:spcPct val="100000"/>
        </a:lnSpc>
        <a:spcBef>
          <a:spcPts val="3500"/>
        </a:spcBef>
        <a:spcAft>
          <a:spcPts val="0"/>
        </a:spcAft>
        <a:buClrTx/>
        <a:buSzPct val="100000"/>
        <a:buFontTx/>
        <a:buChar char="»"/>
        <a:tabLst/>
        <a:defRPr sz="14700" b="0" i="0" u="none" strike="noStrike" cap="none" spc="0" baseline="0">
          <a:ln>
            <a:noFill/>
          </a:ln>
          <a:solidFill>
            <a:srgbClr val="000000"/>
          </a:solidFill>
          <a:uFillTx/>
          <a:latin typeface="+mj-lt"/>
          <a:ea typeface="+mj-ea"/>
          <a:cs typeface="+mj-cs"/>
          <a:sym typeface="Arial"/>
        </a:defRPr>
      </a:lvl6pPr>
      <a:lvl7pPr marL="10908079" marR="0" indent="-1685897" algn="l" defTabSz="4176110" rtl="0" latinLnBrk="0">
        <a:lnSpc>
          <a:spcPct val="100000"/>
        </a:lnSpc>
        <a:spcBef>
          <a:spcPts val="3500"/>
        </a:spcBef>
        <a:spcAft>
          <a:spcPts val="0"/>
        </a:spcAft>
        <a:buClrTx/>
        <a:buSzPct val="100000"/>
        <a:buFontTx/>
        <a:buChar char="»"/>
        <a:tabLst/>
        <a:defRPr sz="14700" b="0" i="0" u="none" strike="noStrike" cap="none" spc="0" baseline="0">
          <a:ln>
            <a:noFill/>
          </a:ln>
          <a:solidFill>
            <a:srgbClr val="000000"/>
          </a:solidFill>
          <a:uFillTx/>
          <a:latin typeface="+mj-lt"/>
          <a:ea typeface="+mj-ea"/>
          <a:cs typeface="+mj-cs"/>
          <a:sym typeface="Arial"/>
        </a:defRPr>
      </a:lvl7pPr>
      <a:lvl8pPr marL="11343059" marR="0" indent="-1685897" algn="l" defTabSz="4176110" rtl="0" latinLnBrk="0">
        <a:lnSpc>
          <a:spcPct val="100000"/>
        </a:lnSpc>
        <a:spcBef>
          <a:spcPts val="3500"/>
        </a:spcBef>
        <a:spcAft>
          <a:spcPts val="0"/>
        </a:spcAft>
        <a:buClrTx/>
        <a:buSzPct val="100000"/>
        <a:buFontTx/>
        <a:buChar char="»"/>
        <a:tabLst/>
        <a:defRPr sz="14700" b="0" i="0" u="none" strike="noStrike" cap="none" spc="0" baseline="0">
          <a:ln>
            <a:noFill/>
          </a:ln>
          <a:solidFill>
            <a:srgbClr val="000000"/>
          </a:solidFill>
          <a:uFillTx/>
          <a:latin typeface="+mj-lt"/>
          <a:ea typeface="+mj-ea"/>
          <a:cs typeface="+mj-cs"/>
          <a:sym typeface="Arial"/>
        </a:defRPr>
      </a:lvl8pPr>
      <a:lvl9pPr marL="11778039" marR="0" indent="-1685897" algn="l" defTabSz="4176110" rtl="0" latinLnBrk="0">
        <a:lnSpc>
          <a:spcPct val="100000"/>
        </a:lnSpc>
        <a:spcBef>
          <a:spcPts val="3500"/>
        </a:spcBef>
        <a:spcAft>
          <a:spcPts val="0"/>
        </a:spcAft>
        <a:buClrTx/>
        <a:buSzPct val="100000"/>
        <a:buFontTx/>
        <a:buChar char="»"/>
        <a:tabLst/>
        <a:defRPr sz="14700" b="0" i="0" u="none" strike="noStrike" cap="none" spc="0" baseline="0">
          <a:ln>
            <a:noFill/>
          </a:ln>
          <a:solidFill>
            <a:srgbClr val="000000"/>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1pPr>
      <a:lvl2pPr marL="0" marR="0" indent="434979"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2pPr>
      <a:lvl3pPr marL="0" marR="0" indent="869959"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3pPr>
      <a:lvl4pPr marL="0" marR="0" indent="130494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4pPr>
      <a:lvl5pPr marL="0" marR="0" indent="1739919"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5pPr>
      <a:lvl6pPr marL="0" marR="0" indent="2174899"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6pPr>
      <a:lvl7pPr marL="0" marR="0" indent="260988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7pPr>
      <a:lvl8pPr marL="0" marR="0" indent="3044861"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8pPr>
      <a:lvl9pPr marL="0" marR="0" indent="3479841"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www.postersession.com/order/" TargetMode="External"/><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3000"/>
            <a:lum/>
          </a:blip>
          <a:srcRect/>
          <a:stretch>
            <a:fillRect l="-60000" r="-60000"/>
          </a:stretch>
        </a:blipFill>
        <a:effectLst/>
      </p:bgPr>
    </p:bg>
    <p:spTree>
      <p:nvGrpSpPr>
        <p:cNvPr id="1" name=""/>
        <p:cNvGrpSpPr/>
        <p:nvPr/>
      </p:nvGrpSpPr>
      <p:grpSpPr>
        <a:xfrm>
          <a:off x="0" y="0"/>
          <a:ext cx="0" cy="0"/>
          <a:chOff x="0" y="0"/>
          <a:chExt cx="0" cy="0"/>
        </a:xfrm>
      </p:grpSpPr>
      <p:sp>
        <p:nvSpPr>
          <p:cNvPr id="52" name="AutoShape 4">
            <a:extLst>
              <a:ext uri="{FF2B5EF4-FFF2-40B4-BE49-F238E27FC236}">
                <a16:creationId xmlns:a16="http://schemas.microsoft.com/office/drawing/2014/main" id="{981658AA-0166-4362-97F0-4BB6D5BE3462}"/>
              </a:ext>
            </a:extLst>
          </p:cNvPr>
          <p:cNvSpPr/>
          <p:nvPr/>
        </p:nvSpPr>
        <p:spPr>
          <a:xfrm>
            <a:off x="11319527" y="31919219"/>
            <a:ext cx="18279550" cy="10391974"/>
          </a:xfrm>
          <a:prstGeom prst="roundRect">
            <a:avLst>
              <a:gd name="adj" fmla="val 7000"/>
            </a:avLst>
          </a:prstGeom>
          <a:solidFill>
            <a:schemeClr val="bg1">
              <a:alpha val="60000"/>
            </a:schemeClr>
          </a:solidFill>
          <a:ln w="76200">
            <a:solidFill>
              <a:srgbClr val="000000"/>
            </a:solidFill>
          </a:ln>
        </p:spPr>
        <p:txBody>
          <a:bodyPr lIns="45719" rIns="45719" anchor="ctr"/>
          <a:lstStyle/>
          <a:p>
            <a:endParaRPr lang="en-US"/>
          </a:p>
        </p:txBody>
      </p:sp>
      <p:sp>
        <p:nvSpPr>
          <p:cNvPr id="32" name="Text Box 40"/>
          <p:cNvSpPr txBox="1"/>
          <p:nvPr/>
        </p:nvSpPr>
        <p:spPr>
          <a:xfrm>
            <a:off x="11747086" y="32698861"/>
            <a:ext cx="17487938" cy="3745851"/>
          </a:xfrm>
          <a:prstGeom prst="rect">
            <a:avLst/>
          </a:prstGeom>
          <a:ln w="12700">
            <a:miter lim="400000"/>
          </a:ln>
          <a:extLst>
            <a:ext uri="{C572A759-6A51-4108-AA02-DFA0A04FC94B}">
              <ma14:wrappingTextBoxFlag xmlns="" xmlns:ma14="http://schemas.microsoft.com/office/mac/drawingml/2011/main" val="1"/>
            </a:ext>
          </a:extLst>
        </p:spPr>
        <p:txBody>
          <a:bodyPr wrap="square" lIns="30584" tIns="30584" rIns="30584" bIns="30584">
            <a:spAutoFit/>
          </a:bodyPr>
          <a:lstStyle/>
          <a:p>
            <a:pPr algn="l" defTabSz="612775">
              <a:lnSpc>
                <a:spcPct val="95000"/>
              </a:lnSpc>
              <a:defRPr sz="2800">
                <a:latin typeface="Times New Roman"/>
                <a:ea typeface="Times New Roman"/>
                <a:cs typeface="Times New Roman"/>
                <a:sym typeface="Times New Roman"/>
              </a:defRPr>
            </a:pPr>
            <a:endParaRPr lang="en-US" dirty="0"/>
          </a:p>
          <a:p>
            <a:pPr algn="l" defTabSz="612775">
              <a:lnSpc>
                <a:spcPct val="95000"/>
              </a:lnSpc>
              <a:defRPr sz="2800">
                <a:latin typeface="Times New Roman"/>
                <a:ea typeface="Times New Roman"/>
                <a:cs typeface="Times New Roman"/>
                <a:sym typeface="Times New Roman"/>
              </a:defRPr>
            </a:pPr>
            <a:r>
              <a:rPr lang="en-US" dirty="0"/>
              <a:t>Managing forests at the landscape scale is challenging due to the complexity of ecosystems, the diversity of services they provide, and the need to balance production, biodiversity, social demands, and climate adaptation.</a:t>
            </a:r>
          </a:p>
          <a:p>
            <a:pPr algn="l" defTabSz="612775">
              <a:lnSpc>
                <a:spcPct val="95000"/>
              </a:lnSpc>
              <a:defRPr sz="2800">
                <a:latin typeface="Times New Roman"/>
                <a:ea typeface="Times New Roman"/>
                <a:cs typeface="Times New Roman"/>
                <a:sym typeface="Times New Roman"/>
              </a:defRPr>
            </a:pPr>
            <a:endParaRPr lang="en-US" dirty="0"/>
          </a:p>
          <a:p>
            <a:pPr algn="l" defTabSz="612775">
              <a:lnSpc>
                <a:spcPct val="95000"/>
              </a:lnSpc>
              <a:defRPr sz="2800">
                <a:latin typeface="Times New Roman"/>
                <a:ea typeface="Times New Roman"/>
                <a:cs typeface="Times New Roman"/>
                <a:sym typeface="Times New Roman"/>
              </a:defRPr>
            </a:pPr>
            <a:r>
              <a:rPr lang="en-US" dirty="0"/>
              <a:t>New tools like control theory can help by revealing system dynamics and offering flexible pathways, allowing managers to adapt strategies to their local context [4].</a:t>
            </a:r>
          </a:p>
          <a:p>
            <a:pPr algn="l" defTabSz="612775">
              <a:lnSpc>
                <a:spcPct val="95000"/>
              </a:lnSpc>
              <a:defRPr sz="2800">
                <a:latin typeface="Times New Roman"/>
                <a:ea typeface="Times New Roman"/>
                <a:cs typeface="Times New Roman"/>
                <a:sym typeface="Times New Roman"/>
              </a:defRPr>
            </a:pPr>
            <a:endParaRPr lang="en-US" dirty="0"/>
          </a:p>
          <a:p>
            <a:pPr algn="l" defTabSz="612775">
              <a:lnSpc>
                <a:spcPct val="95000"/>
              </a:lnSpc>
              <a:defRPr sz="2800">
                <a:latin typeface="Times New Roman"/>
                <a:ea typeface="Times New Roman"/>
                <a:cs typeface="Times New Roman"/>
                <a:sym typeface="Times New Roman"/>
              </a:defRPr>
            </a:pPr>
            <a:r>
              <a:rPr lang="en-US" dirty="0"/>
              <a:t>To make this possible, new governance structures will be needed—ones that support collaboration and long-term planning across scales [5].</a:t>
            </a:r>
            <a:endParaRPr lang="en-US" b="1" dirty="0"/>
          </a:p>
        </p:txBody>
      </p:sp>
      <p:sp>
        <p:nvSpPr>
          <p:cNvPr id="53" name="AutoShape 4">
            <a:extLst>
              <a:ext uri="{FF2B5EF4-FFF2-40B4-BE49-F238E27FC236}">
                <a16:creationId xmlns:a16="http://schemas.microsoft.com/office/drawing/2014/main" id="{2FEAD665-76DF-44AF-A8C8-B81D61F4B562}"/>
              </a:ext>
            </a:extLst>
          </p:cNvPr>
          <p:cNvSpPr/>
          <p:nvPr/>
        </p:nvSpPr>
        <p:spPr>
          <a:xfrm>
            <a:off x="11319526" y="13831728"/>
            <a:ext cx="18303640" cy="17664356"/>
          </a:xfrm>
          <a:prstGeom prst="roundRect">
            <a:avLst>
              <a:gd name="adj" fmla="val 3971"/>
            </a:avLst>
          </a:prstGeom>
          <a:solidFill>
            <a:schemeClr val="bg1">
              <a:alpha val="60000"/>
            </a:schemeClr>
          </a:solidFill>
          <a:ln w="76200">
            <a:solidFill>
              <a:srgbClr val="000000"/>
            </a:solidFill>
          </a:ln>
        </p:spPr>
        <p:txBody>
          <a:bodyPr lIns="45719" rIns="45719" anchor="ctr"/>
          <a:lstStyle/>
          <a:p>
            <a:endParaRPr lang="en-US" dirty="0"/>
          </a:p>
        </p:txBody>
      </p:sp>
      <p:sp>
        <p:nvSpPr>
          <p:cNvPr id="54" name="AutoShape 4">
            <a:extLst>
              <a:ext uri="{FF2B5EF4-FFF2-40B4-BE49-F238E27FC236}">
                <a16:creationId xmlns:a16="http://schemas.microsoft.com/office/drawing/2014/main" id="{6872586C-29D8-40B2-A044-89AD6DCD493E}"/>
              </a:ext>
            </a:extLst>
          </p:cNvPr>
          <p:cNvSpPr/>
          <p:nvPr/>
        </p:nvSpPr>
        <p:spPr>
          <a:xfrm>
            <a:off x="568326" y="13831728"/>
            <a:ext cx="10286488" cy="28611879"/>
          </a:xfrm>
          <a:prstGeom prst="roundRect">
            <a:avLst>
              <a:gd name="adj" fmla="val 10154"/>
            </a:avLst>
          </a:prstGeom>
          <a:solidFill>
            <a:schemeClr val="bg1">
              <a:alpha val="60000"/>
            </a:schemeClr>
          </a:solidFill>
          <a:ln w="76200">
            <a:solidFill>
              <a:srgbClr val="000000"/>
            </a:solidFill>
          </a:ln>
        </p:spPr>
        <p:txBody>
          <a:bodyPr lIns="45719" rIns="45719" anchor="ctr"/>
          <a:lstStyle/>
          <a:p>
            <a:r>
              <a:rPr lang="en-US"/>
              <a:t>Beech Conservation Unit</a:t>
            </a:r>
          </a:p>
        </p:txBody>
      </p:sp>
      <p:sp>
        <p:nvSpPr>
          <p:cNvPr id="43" name="AutoShape 50">
            <a:extLst>
              <a:ext uri="{FF2B5EF4-FFF2-40B4-BE49-F238E27FC236}">
                <a16:creationId xmlns:a16="http://schemas.microsoft.com/office/drawing/2014/main" id="{D4EC97CC-7805-47BB-BF65-025EF95D14E5}"/>
              </a:ext>
            </a:extLst>
          </p:cNvPr>
          <p:cNvSpPr/>
          <p:nvPr/>
        </p:nvSpPr>
        <p:spPr>
          <a:xfrm>
            <a:off x="627740" y="355392"/>
            <a:ext cx="29090259" cy="7412465"/>
          </a:xfrm>
          <a:prstGeom prst="roundRect">
            <a:avLst>
              <a:gd name="adj" fmla="val 7000"/>
            </a:avLst>
          </a:prstGeom>
          <a:solidFill>
            <a:schemeClr val="bg1">
              <a:alpha val="60000"/>
            </a:schemeClr>
          </a:solidFill>
          <a:ln w="76200">
            <a:solidFill>
              <a:srgbClr val="000000"/>
            </a:solidFill>
          </a:ln>
        </p:spPr>
        <p:txBody>
          <a:bodyPr lIns="45719" rIns="45719" anchor="ctr"/>
          <a:lstStyle/>
          <a:p>
            <a:endParaRPr lang="en-US"/>
          </a:p>
        </p:txBody>
      </p:sp>
      <p:sp>
        <p:nvSpPr>
          <p:cNvPr id="22" name="AutoShape 4"/>
          <p:cNvSpPr/>
          <p:nvPr/>
        </p:nvSpPr>
        <p:spPr>
          <a:xfrm>
            <a:off x="571499" y="8128000"/>
            <a:ext cx="29146500" cy="5352706"/>
          </a:xfrm>
          <a:prstGeom prst="roundRect">
            <a:avLst>
              <a:gd name="adj" fmla="val 7000"/>
            </a:avLst>
          </a:prstGeom>
          <a:solidFill>
            <a:schemeClr val="bg1">
              <a:alpha val="60000"/>
            </a:schemeClr>
          </a:solidFill>
          <a:ln w="76200">
            <a:solidFill>
              <a:srgbClr val="000000"/>
            </a:solidFill>
          </a:ln>
        </p:spPr>
        <p:txBody>
          <a:bodyPr lIns="45719" rIns="45719" anchor="ctr"/>
          <a:lstStyle/>
          <a:p>
            <a:endParaRPr lang="en-US"/>
          </a:p>
        </p:txBody>
      </p:sp>
      <p:sp>
        <p:nvSpPr>
          <p:cNvPr id="24" name="Text Box 10"/>
          <p:cNvSpPr txBox="1"/>
          <p:nvPr/>
        </p:nvSpPr>
        <p:spPr>
          <a:xfrm>
            <a:off x="627740" y="13893288"/>
            <a:ext cx="10790659" cy="1354217"/>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defTabSz="4389437">
              <a:spcBef>
                <a:spcPts val="4900"/>
              </a:spcBef>
              <a:defRPr b="1"/>
            </a:lvl1pPr>
          </a:lstStyle>
          <a:p>
            <a:r>
              <a:rPr lang="en-US"/>
              <a:t>Forest functions</a:t>
            </a:r>
          </a:p>
        </p:txBody>
      </p:sp>
      <p:sp>
        <p:nvSpPr>
          <p:cNvPr id="25" name="Text Box 11"/>
          <p:cNvSpPr txBox="1"/>
          <p:nvPr/>
        </p:nvSpPr>
        <p:spPr>
          <a:xfrm>
            <a:off x="12093677" y="31913008"/>
            <a:ext cx="17487938" cy="1354217"/>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defTabSz="4389437">
              <a:spcBef>
                <a:spcPts val="4900"/>
              </a:spcBef>
              <a:defRPr b="1"/>
            </a:lvl1pPr>
          </a:lstStyle>
          <a:p>
            <a:r>
              <a:rPr lang="en-US" dirty="0"/>
              <a:t>Conclusion</a:t>
            </a:r>
          </a:p>
        </p:txBody>
      </p:sp>
      <p:sp>
        <p:nvSpPr>
          <p:cNvPr id="27" name="Text Box 14"/>
          <p:cNvSpPr txBox="1"/>
          <p:nvPr/>
        </p:nvSpPr>
        <p:spPr>
          <a:xfrm>
            <a:off x="6438746" y="776735"/>
            <a:ext cx="17412005" cy="4524315"/>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r>
              <a:rPr lang="en-US" sz="9600" b="1" u="none" strike="noStrike">
                <a:solidFill>
                  <a:schemeClr val="tx1"/>
                </a:solidFill>
                <a:effectLst/>
                <a:uFillTx/>
                <a:latin typeface="Arial"/>
                <a:ea typeface="Arial"/>
              </a:rPr>
              <a:t>Planning multi-functional </a:t>
            </a:r>
            <a:r>
              <a:rPr lang="en-US" sz="9600" b="1">
                <a:solidFill>
                  <a:schemeClr val="tx1"/>
                </a:solidFill>
                <a:latin typeface="Arial"/>
                <a:ea typeface="Arial"/>
              </a:rPr>
              <a:t>f</a:t>
            </a:r>
            <a:r>
              <a:rPr lang="en-US" sz="9600" b="1" u="none" strike="noStrike">
                <a:solidFill>
                  <a:schemeClr val="tx1"/>
                </a:solidFill>
                <a:effectLst/>
                <a:uFillTx/>
                <a:latin typeface="Arial"/>
                <a:ea typeface="Arial"/>
              </a:rPr>
              <a:t>orest </a:t>
            </a:r>
            <a:r>
              <a:rPr lang="en-US" sz="9600" b="1">
                <a:solidFill>
                  <a:schemeClr val="tx1"/>
                </a:solidFill>
                <a:latin typeface="Arial"/>
                <a:ea typeface="Arial"/>
              </a:rPr>
              <a:t>m</a:t>
            </a:r>
            <a:r>
              <a:rPr lang="en-US" sz="9600" b="1" u="none" strike="noStrike">
                <a:solidFill>
                  <a:schemeClr val="tx1"/>
                </a:solidFill>
                <a:effectLst/>
                <a:uFillTx/>
                <a:latin typeface="Arial"/>
                <a:ea typeface="Arial"/>
              </a:rPr>
              <a:t>anagement at the landscape </a:t>
            </a:r>
            <a:r>
              <a:rPr lang="en-US" sz="9600" b="1">
                <a:solidFill>
                  <a:schemeClr val="tx1"/>
                </a:solidFill>
                <a:latin typeface="Arial"/>
                <a:ea typeface="Arial"/>
              </a:rPr>
              <a:t>s</a:t>
            </a:r>
            <a:r>
              <a:rPr lang="en-US" sz="9600" b="1" u="none" strike="noStrike">
                <a:solidFill>
                  <a:schemeClr val="tx1"/>
                </a:solidFill>
                <a:effectLst/>
                <a:uFillTx/>
                <a:latin typeface="Arial"/>
                <a:ea typeface="Arial"/>
              </a:rPr>
              <a:t>cale</a:t>
            </a:r>
            <a:endParaRPr lang="en-US" sz="9600" b="0" u="none" strike="noStrike">
              <a:solidFill>
                <a:schemeClr val="tx1"/>
              </a:solidFill>
              <a:effectLst/>
              <a:uFillTx/>
              <a:latin typeface="Arial"/>
            </a:endParaRPr>
          </a:p>
        </p:txBody>
      </p:sp>
      <p:sp>
        <p:nvSpPr>
          <p:cNvPr id="28" name="Text Box 27"/>
          <p:cNvSpPr txBox="1"/>
          <p:nvPr/>
        </p:nvSpPr>
        <p:spPr>
          <a:xfrm>
            <a:off x="11915708" y="36023642"/>
            <a:ext cx="17487938" cy="1092607"/>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defTabSz="4389437">
              <a:spcBef>
                <a:spcPts val="3900"/>
              </a:spcBef>
              <a:defRPr sz="6500"/>
            </a:lvl1pPr>
          </a:lstStyle>
          <a:p>
            <a:r>
              <a:rPr lang="en-US"/>
              <a:t>Bibliography</a:t>
            </a:r>
          </a:p>
        </p:txBody>
      </p:sp>
      <p:sp>
        <p:nvSpPr>
          <p:cNvPr id="30" name="Text Box 38"/>
          <p:cNvSpPr txBox="1"/>
          <p:nvPr/>
        </p:nvSpPr>
        <p:spPr>
          <a:xfrm>
            <a:off x="11800301" y="37046846"/>
            <a:ext cx="17416873" cy="4973879"/>
          </a:xfrm>
          <a:prstGeom prst="rect">
            <a:avLst/>
          </a:prstGeom>
          <a:ln w="12700">
            <a:miter lim="400000"/>
          </a:ln>
          <a:extLst>
            <a:ext uri="{C572A759-6A51-4108-AA02-DFA0A04FC94B}">
              <ma14:wrappingTextBoxFlag xmlns="" xmlns:ma14="http://schemas.microsoft.com/office/mac/drawingml/2011/main" val="1"/>
            </a:ext>
          </a:extLst>
        </p:spPr>
        <p:txBody>
          <a:bodyPr wrap="square" lIns="30584" tIns="30584" rIns="30584" bIns="30584">
            <a:spAutoFit/>
          </a:bodyPr>
          <a:lstStyle/>
          <a:p>
            <a:pPr marL="342900" indent="-342900" algn="l" defTabSz="612775">
              <a:lnSpc>
                <a:spcPct val="95000"/>
              </a:lnSpc>
              <a:buSzPct val="100000"/>
              <a:buAutoNum type="arabicPeriod"/>
              <a:defRPr sz="2800" b="1">
                <a:latin typeface="Times New Roman"/>
                <a:ea typeface="Times New Roman"/>
                <a:cs typeface="Times New Roman"/>
                <a:sym typeface="Times New Roman"/>
              </a:defRPr>
            </a:pPr>
            <a:r>
              <a:rPr lang="en-US"/>
              <a:t>Heinrichs, S., et al. (2019). </a:t>
            </a:r>
            <a:r>
              <a:rPr lang="en-US" i="1"/>
              <a:t>Landscape-scale tree mixtures benefit plant and lichen biodiversity</a:t>
            </a:r>
            <a:r>
              <a:rPr lang="en-US"/>
              <a:t>. </a:t>
            </a:r>
            <a:r>
              <a:rPr lang="en-US" b="1"/>
              <a:t>Forests</a:t>
            </a:r>
            <a:r>
              <a:rPr lang="en-US"/>
              <a:t>, 10(1), 73.</a:t>
            </a:r>
          </a:p>
          <a:p>
            <a:pPr marL="342900" indent="-342900" algn="l" defTabSz="612775">
              <a:lnSpc>
                <a:spcPct val="95000"/>
              </a:lnSpc>
              <a:buSzPct val="100000"/>
              <a:buAutoNum type="arabicPeriod"/>
              <a:defRPr sz="2800" b="1">
                <a:latin typeface="Times New Roman"/>
                <a:ea typeface="Times New Roman"/>
                <a:cs typeface="Times New Roman"/>
                <a:sym typeface="Times New Roman"/>
              </a:defRPr>
            </a:pPr>
            <a:r>
              <a:rPr lang="en-US"/>
              <a:t>Duflot, R., Fahrig, L., Mönkkönen, M. (2022). </a:t>
            </a:r>
            <a:r>
              <a:rPr lang="en-US" i="1"/>
              <a:t>Management diversity promotes biodiversity in production forests</a:t>
            </a:r>
            <a:r>
              <a:rPr lang="en-US"/>
              <a:t>. </a:t>
            </a:r>
            <a:r>
              <a:rPr lang="en-US" b="1"/>
              <a:t>Biol. Conserv.</a:t>
            </a:r>
            <a:r>
              <a:rPr lang="en-US"/>
              <a:t>, 268, 109514.</a:t>
            </a:r>
          </a:p>
          <a:p>
            <a:pPr marL="342900" indent="-342900" algn="l" defTabSz="612775">
              <a:lnSpc>
                <a:spcPct val="95000"/>
              </a:lnSpc>
              <a:buSzPct val="100000"/>
              <a:buAutoNum type="arabicPeriod"/>
              <a:defRPr sz="2800" b="1">
                <a:latin typeface="Times New Roman"/>
                <a:ea typeface="Times New Roman"/>
                <a:cs typeface="Times New Roman"/>
                <a:sym typeface="Times New Roman"/>
              </a:defRPr>
            </a:pPr>
            <a:r>
              <a:rPr lang="en-US"/>
              <a:t>Morin, X., Bugmann, H., de Coligny, F., et al. (2021). </a:t>
            </a:r>
            <a:r>
              <a:rPr lang="en-US" i="1"/>
              <a:t>A gap model for ecosystem function and tree composition under climate change</a:t>
            </a:r>
            <a:r>
              <a:rPr lang="en-US"/>
              <a:t>. </a:t>
            </a:r>
            <a:r>
              <a:rPr lang="en-US" b="1"/>
              <a:t>Funct. Ecol.</a:t>
            </a:r>
            <a:r>
              <a:rPr lang="en-US"/>
              <a:t>, 35(4), 955–975.</a:t>
            </a:r>
          </a:p>
          <a:p>
            <a:pPr marL="342900" indent="-342900" algn="l" defTabSz="612775">
              <a:lnSpc>
                <a:spcPct val="95000"/>
              </a:lnSpc>
              <a:buSzPct val="100000"/>
              <a:buAutoNum type="arabicPeriod"/>
              <a:defRPr sz="2800" b="1">
                <a:latin typeface="Times New Roman"/>
                <a:ea typeface="Times New Roman"/>
                <a:cs typeface="Times New Roman"/>
                <a:sym typeface="Times New Roman"/>
              </a:defRPr>
            </a:pPr>
            <a:r>
              <a:rPr lang="en-US"/>
              <a:t>Mathias, J.-D., Bonté, B., et al. (2015). </a:t>
            </a:r>
            <a:r>
              <a:rPr lang="en-US" i="1"/>
              <a:t>Viability theory and forest management flexibility</a:t>
            </a:r>
            <a:r>
              <a:rPr lang="en-US"/>
              <a:t>. </a:t>
            </a:r>
            <a:r>
              <a:rPr lang="en-US" b="1"/>
              <a:t>Environ. Manage.</a:t>
            </a:r>
            <a:r>
              <a:rPr lang="en-US"/>
              <a:t>, 56(5), 1170–1183.</a:t>
            </a:r>
          </a:p>
          <a:p>
            <a:pPr marL="342900" indent="-342900" algn="l" defTabSz="612775">
              <a:lnSpc>
                <a:spcPct val="95000"/>
              </a:lnSpc>
              <a:buSzPct val="100000"/>
              <a:buAutoNum type="arabicPeriod"/>
              <a:defRPr sz="2800" b="1">
                <a:latin typeface="Times New Roman"/>
                <a:ea typeface="Times New Roman"/>
                <a:cs typeface="Times New Roman"/>
                <a:sym typeface="Times New Roman"/>
              </a:defRPr>
            </a:pPr>
            <a:r>
              <a:rPr lang="en-US"/>
              <a:t>Pichancourt, J.-B., Brias, A., Bonis, A. (</a:t>
            </a:r>
            <a:r>
              <a:rPr lang="en-US">
                <a:solidFill>
                  <a:schemeClr val="tx1"/>
                </a:solidFill>
              </a:rPr>
              <a:t>202</a:t>
            </a:r>
            <a:r>
              <a:rPr lang="en-US" sz="2800" b="1" u="none" strike="noStrike">
                <a:solidFill>
                  <a:schemeClr val="tx1"/>
                </a:solidFill>
                <a:effectLst/>
                <a:uFillTx/>
                <a:latin typeface="Times New Roman"/>
                <a:ea typeface="Times New Roman"/>
              </a:rPr>
              <a:t>5). </a:t>
            </a:r>
            <a:r>
              <a:rPr lang="en-US" sz="2800" b="1" i="1" u="none" strike="noStrike">
                <a:solidFill>
                  <a:schemeClr val="tx1"/>
                </a:solidFill>
                <a:effectLst/>
                <a:uFillTx/>
                <a:latin typeface="Times New Roman"/>
                <a:ea typeface="Times New Roman"/>
              </a:rPr>
              <a:t>Integrating adaptation pathways and Ostrom’s framework for sustainable governance of social-ecological systems in a changing world.</a:t>
            </a:r>
          </a:p>
          <a:p>
            <a:pPr marL="342900" indent="-342900" algn="l" defTabSz="612775">
              <a:lnSpc>
                <a:spcPct val="95000"/>
              </a:lnSpc>
              <a:buSzPct val="100000"/>
              <a:buAutoNum type="arabicPeriod"/>
              <a:defRPr sz="2800" b="1">
                <a:latin typeface="Times New Roman"/>
                <a:ea typeface="Times New Roman"/>
                <a:cs typeface="Times New Roman"/>
                <a:sym typeface="Times New Roman"/>
              </a:defRPr>
            </a:pPr>
            <a:r>
              <a:rPr lang="en-US"/>
              <a:t>ONF (Office National des Forêts). Plan d’aménagement forestier de la forêt domaniale de Retz 2013–2032.</a:t>
            </a:r>
          </a:p>
          <a:p>
            <a:pPr marL="342900" indent="-342900" algn="l" defTabSz="612775">
              <a:lnSpc>
                <a:spcPct val="95000"/>
              </a:lnSpc>
              <a:buSzPct val="100000"/>
              <a:buAutoNum type="arabicPeriod"/>
              <a:defRPr sz="2800" b="1">
                <a:latin typeface="Times New Roman"/>
                <a:ea typeface="Times New Roman"/>
                <a:cs typeface="Times New Roman"/>
                <a:sym typeface="Times New Roman"/>
              </a:defRPr>
            </a:pPr>
            <a:r>
              <a:rPr lang="en-US" b="1"/>
              <a:t>Jourdan, M.</a:t>
            </a:r>
            <a:r>
              <a:rPr lang="en-US"/>
              <a:t> (2018). </a:t>
            </a:r>
            <a:r>
              <a:rPr lang="en-US" i="1"/>
              <a:t>Le rôle de la diversité sur la stabilité des processus des écosystèmes forestiers en contexte de changement climatique</a:t>
            </a:r>
            <a:r>
              <a:rPr lang="en-US"/>
              <a:t>. Thèse de doctorat, AgroParisTech. ffNNT : 2018AGPT0009ff.</a:t>
            </a:r>
          </a:p>
        </p:txBody>
      </p:sp>
      <p:sp>
        <p:nvSpPr>
          <p:cNvPr id="33" name="Text Box 42"/>
          <p:cNvSpPr txBox="1"/>
          <p:nvPr/>
        </p:nvSpPr>
        <p:spPr>
          <a:xfrm>
            <a:off x="546101" y="8209672"/>
            <a:ext cx="29171898" cy="1354217"/>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defTabSz="4389437">
              <a:spcBef>
                <a:spcPts val="4900"/>
              </a:spcBef>
              <a:defRPr b="1"/>
            </a:lvl1pPr>
          </a:lstStyle>
          <a:p>
            <a:r>
              <a:rPr lang="en-US"/>
              <a:t>Introduction</a:t>
            </a:r>
          </a:p>
        </p:txBody>
      </p:sp>
      <p:sp>
        <p:nvSpPr>
          <p:cNvPr id="34" name="Text Box 43"/>
          <p:cNvSpPr txBox="1"/>
          <p:nvPr/>
        </p:nvSpPr>
        <p:spPr>
          <a:xfrm>
            <a:off x="11293950" y="13831728"/>
            <a:ext cx="18287665" cy="1354217"/>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defTabSz="4389437">
              <a:spcBef>
                <a:spcPts val="4900"/>
              </a:spcBef>
              <a:defRPr b="1"/>
            </a:lvl1pPr>
          </a:lstStyle>
          <a:p>
            <a:r>
              <a:rPr lang="en-US"/>
              <a:t>Method developpement</a:t>
            </a:r>
          </a:p>
        </p:txBody>
      </p:sp>
      <p:sp>
        <p:nvSpPr>
          <p:cNvPr id="35" name="Text Box 49"/>
          <p:cNvSpPr txBox="1"/>
          <p:nvPr/>
        </p:nvSpPr>
        <p:spPr>
          <a:xfrm>
            <a:off x="25112129" y="3107636"/>
            <a:ext cx="4378879" cy="2554545"/>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defTabSz="4389437">
              <a:spcBef>
                <a:spcPts val="4900"/>
              </a:spcBef>
              <a:defRPr b="1"/>
            </a:pPr>
            <a:r>
              <a:rPr lang="en-US" sz="4000"/>
              <a:t>Laboratoire d’ingénierie pour les systèmes complexes</a:t>
            </a:r>
          </a:p>
        </p:txBody>
      </p:sp>
      <p:sp>
        <p:nvSpPr>
          <p:cNvPr id="38" name="Text Box 19">
            <a:hlinkClick r:id="rId3"/>
          </p:cNvPr>
          <p:cNvSpPr txBox="1"/>
          <p:nvPr/>
        </p:nvSpPr>
        <p:spPr>
          <a:xfrm>
            <a:off x="-1408907" y="43373361"/>
            <a:ext cx="32955708" cy="1015663"/>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lvl1pPr defTabSz="4389437">
              <a:spcBef>
                <a:spcPts val="3600"/>
              </a:spcBef>
              <a:defRPr sz="6000" b="1" i="1">
                <a:solidFill>
                  <a:srgbClr val="0046D2"/>
                </a:solidFill>
              </a:defRPr>
            </a:lvl1pPr>
          </a:lstStyle>
          <a:p>
            <a:r>
              <a:rPr lang="en-US"/>
              <a:t>Order online at    https://www.postersession.com/order/</a:t>
            </a:r>
          </a:p>
        </p:txBody>
      </p:sp>
      <p:pic>
        <p:nvPicPr>
          <p:cNvPr id="41" name="logo-uca.png" descr="logo-uca.png"/>
          <p:cNvPicPr>
            <a:picLocks noChangeAspect="1"/>
          </p:cNvPicPr>
          <p:nvPr/>
        </p:nvPicPr>
        <p:blipFill>
          <a:blip r:embed="rId4"/>
          <a:stretch>
            <a:fillRect/>
          </a:stretch>
        </p:blipFill>
        <p:spPr>
          <a:xfrm>
            <a:off x="1072053" y="1086268"/>
            <a:ext cx="3957742" cy="3833415"/>
          </a:xfrm>
          <a:prstGeom prst="rect">
            <a:avLst/>
          </a:prstGeom>
          <a:ln w="12700">
            <a:miter lim="400000"/>
          </a:ln>
        </p:spPr>
      </p:pic>
      <p:sp>
        <p:nvSpPr>
          <p:cNvPr id="42" name="Text Box 49"/>
          <p:cNvSpPr txBox="1"/>
          <p:nvPr/>
        </p:nvSpPr>
        <p:spPr>
          <a:xfrm>
            <a:off x="1085850" y="4955843"/>
            <a:ext cx="3829051" cy="1523494"/>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lvl1pPr defTabSz="4389437">
              <a:spcBef>
                <a:spcPts val="4900"/>
              </a:spcBef>
              <a:defRPr sz="3100" b="1"/>
            </a:lvl1pPr>
          </a:lstStyle>
          <a:p>
            <a:r>
              <a:rPr lang="en-US"/>
              <a:t>Ecole doctorale Sciences Pour l’Ingénieur</a:t>
            </a:r>
          </a:p>
        </p:txBody>
      </p:sp>
      <p:pic>
        <p:nvPicPr>
          <p:cNvPr id="2" name="Image 1">
            <a:extLst>
              <a:ext uri="{FF2B5EF4-FFF2-40B4-BE49-F238E27FC236}">
                <a16:creationId xmlns:a16="http://schemas.microsoft.com/office/drawing/2014/main" id="{D261C46E-59EF-4938-9DEA-F0D0F9BC59AC}"/>
              </a:ext>
            </a:extLst>
          </p:cNvPr>
          <p:cNvPicPr>
            <a:picLocks noChangeAspect="1"/>
          </p:cNvPicPr>
          <p:nvPr/>
        </p:nvPicPr>
        <p:blipFill>
          <a:blip r:embed="rId5"/>
          <a:stretch>
            <a:fillRect/>
          </a:stretch>
        </p:blipFill>
        <p:spPr>
          <a:xfrm>
            <a:off x="25298094" y="1614594"/>
            <a:ext cx="4192914" cy="1107601"/>
          </a:xfrm>
          <a:prstGeom prst="rect">
            <a:avLst/>
          </a:prstGeom>
        </p:spPr>
      </p:pic>
      <p:sp>
        <p:nvSpPr>
          <p:cNvPr id="45" name="Text Box 10">
            <a:extLst>
              <a:ext uri="{FF2B5EF4-FFF2-40B4-BE49-F238E27FC236}">
                <a16:creationId xmlns:a16="http://schemas.microsoft.com/office/drawing/2014/main" id="{7327A2E5-A60E-43A9-BC13-5F3CD8CDC80D}"/>
              </a:ext>
            </a:extLst>
          </p:cNvPr>
          <p:cNvSpPr txBox="1"/>
          <p:nvPr/>
        </p:nvSpPr>
        <p:spPr>
          <a:xfrm>
            <a:off x="627741" y="15163685"/>
            <a:ext cx="10227074" cy="110799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defTabSz="4389437">
              <a:spcBef>
                <a:spcPts val="4900"/>
              </a:spcBef>
              <a:defRPr b="1"/>
            </a:lvl1pPr>
          </a:lstStyle>
          <a:p>
            <a:r>
              <a:rPr lang="en-US" sz="6600" b="0"/>
              <a:t>Wood production</a:t>
            </a:r>
          </a:p>
        </p:txBody>
      </p:sp>
      <p:sp>
        <p:nvSpPr>
          <p:cNvPr id="46" name="Text Box 10">
            <a:extLst>
              <a:ext uri="{FF2B5EF4-FFF2-40B4-BE49-F238E27FC236}">
                <a16:creationId xmlns:a16="http://schemas.microsoft.com/office/drawing/2014/main" id="{1DE141E7-1AE4-416D-B383-23FE222FCAA5}"/>
              </a:ext>
            </a:extLst>
          </p:cNvPr>
          <p:cNvSpPr txBox="1"/>
          <p:nvPr/>
        </p:nvSpPr>
        <p:spPr>
          <a:xfrm>
            <a:off x="508909" y="22959870"/>
            <a:ext cx="10345905" cy="110799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defTabSz="4389437">
              <a:spcBef>
                <a:spcPts val="4900"/>
              </a:spcBef>
              <a:defRPr b="1"/>
            </a:lvl1pPr>
          </a:lstStyle>
          <a:p>
            <a:r>
              <a:rPr lang="en-US" sz="6600" b="0"/>
              <a:t>Biodiversity and habitat</a:t>
            </a:r>
          </a:p>
        </p:txBody>
      </p:sp>
      <p:sp>
        <p:nvSpPr>
          <p:cNvPr id="47" name="Text Box 10">
            <a:extLst>
              <a:ext uri="{FF2B5EF4-FFF2-40B4-BE49-F238E27FC236}">
                <a16:creationId xmlns:a16="http://schemas.microsoft.com/office/drawing/2014/main" id="{51F80CA5-F461-409A-BB37-CBCBD1649EBC}"/>
              </a:ext>
            </a:extLst>
          </p:cNvPr>
          <p:cNvSpPr txBox="1"/>
          <p:nvPr/>
        </p:nvSpPr>
        <p:spPr>
          <a:xfrm>
            <a:off x="568325" y="30774229"/>
            <a:ext cx="10286488" cy="110799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defTabSz="4389437">
              <a:spcBef>
                <a:spcPts val="4900"/>
              </a:spcBef>
              <a:defRPr b="1"/>
            </a:lvl1pPr>
          </a:lstStyle>
          <a:p>
            <a:r>
              <a:rPr lang="en-US" sz="6600" b="0"/>
              <a:t>Social utility</a:t>
            </a:r>
          </a:p>
        </p:txBody>
      </p:sp>
      <p:sp>
        <p:nvSpPr>
          <p:cNvPr id="48" name="Text Box 10">
            <a:extLst>
              <a:ext uri="{FF2B5EF4-FFF2-40B4-BE49-F238E27FC236}">
                <a16:creationId xmlns:a16="http://schemas.microsoft.com/office/drawing/2014/main" id="{0FD7CBD3-3888-43A0-A3FC-32BA33577CBD}"/>
              </a:ext>
            </a:extLst>
          </p:cNvPr>
          <p:cNvSpPr txBox="1"/>
          <p:nvPr/>
        </p:nvSpPr>
        <p:spPr>
          <a:xfrm>
            <a:off x="11418399" y="15268535"/>
            <a:ext cx="18204767" cy="110799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defTabSz="4389437">
              <a:spcBef>
                <a:spcPts val="4900"/>
              </a:spcBef>
              <a:defRPr b="1"/>
            </a:lvl1pPr>
          </a:lstStyle>
          <a:p>
            <a:r>
              <a:rPr lang="en-US" sz="6600" b="0"/>
              <a:t>Challenges</a:t>
            </a:r>
          </a:p>
        </p:txBody>
      </p:sp>
      <p:pic>
        <p:nvPicPr>
          <p:cNvPr id="4" name="Image 3">
            <a:extLst>
              <a:ext uri="{FF2B5EF4-FFF2-40B4-BE49-F238E27FC236}">
                <a16:creationId xmlns:a16="http://schemas.microsoft.com/office/drawing/2014/main" id="{E8A3CFD3-9E95-4092-AFB4-BCC7660B17E2}"/>
              </a:ext>
            </a:extLst>
          </p:cNvPr>
          <p:cNvPicPr>
            <a:picLocks noChangeAspect="1"/>
          </p:cNvPicPr>
          <p:nvPr/>
        </p:nvPicPr>
        <p:blipFill>
          <a:blip r:embed="rId6"/>
          <a:stretch>
            <a:fillRect/>
          </a:stretch>
        </p:blipFill>
        <p:spPr>
          <a:xfrm>
            <a:off x="910556" y="31919219"/>
            <a:ext cx="9567895" cy="6809936"/>
          </a:xfrm>
          <a:prstGeom prst="rect">
            <a:avLst/>
          </a:prstGeom>
        </p:spPr>
      </p:pic>
      <p:pic>
        <p:nvPicPr>
          <p:cNvPr id="6" name="Image 5">
            <a:extLst>
              <a:ext uri="{FF2B5EF4-FFF2-40B4-BE49-F238E27FC236}">
                <a16:creationId xmlns:a16="http://schemas.microsoft.com/office/drawing/2014/main" id="{F668D88D-D0B9-4749-A2F2-936FE5AE31D1}"/>
              </a:ext>
            </a:extLst>
          </p:cNvPr>
          <p:cNvPicPr>
            <a:picLocks noChangeAspect="1"/>
          </p:cNvPicPr>
          <p:nvPr/>
        </p:nvPicPr>
        <p:blipFill>
          <a:blip r:embed="rId7"/>
          <a:stretch>
            <a:fillRect/>
          </a:stretch>
        </p:blipFill>
        <p:spPr>
          <a:xfrm>
            <a:off x="879371" y="16194953"/>
            <a:ext cx="9547882" cy="6766801"/>
          </a:xfrm>
          <a:prstGeom prst="rect">
            <a:avLst/>
          </a:prstGeom>
        </p:spPr>
      </p:pic>
      <p:pic>
        <p:nvPicPr>
          <p:cNvPr id="8" name="Image 7">
            <a:extLst>
              <a:ext uri="{FF2B5EF4-FFF2-40B4-BE49-F238E27FC236}">
                <a16:creationId xmlns:a16="http://schemas.microsoft.com/office/drawing/2014/main" id="{C6C6D4AF-6CD3-4E26-9201-34BC6B61A8AE}"/>
              </a:ext>
            </a:extLst>
          </p:cNvPr>
          <p:cNvPicPr>
            <a:picLocks noChangeAspect="1"/>
          </p:cNvPicPr>
          <p:nvPr/>
        </p:nvPicPr>
        <p:blipFill>
          <a:blip r:embed="rId8"/>
          <a:stretch>
            <a:fillRect/>
          </a:stretch>
        </p:blipFill>
        <p:spPr>
          <a:xfrm>
            <a:off x="908129" y="24110047"/>
            <a:ext cx="9547882" cy="6782852"/>
          </a:xfrm>
          <a:prstGeom prst="rect">
            <a:avLst/>
          </a:prstGeom>
        </p:spPr>
      </p:pic>
      <p:sp>
        <p:nvSpPr>
          <p:cNvPr id="56" name="Text Box 10">
            <a:extLst>
              <a:ext uri="{FF2B5EF4-FFF2-40B4-BE49-F238E27FC236}">
                <a16:creationId xmlns:a16="http://schemas.microsoft.com/office/drawing/2014/main" id="{126F3CC8-B595-403C-B94C-5DD570611346}"/>
              </a:ext>
            </a:extLst>
          </p:cNvPr>
          <p:cNvSpPr txBox="1"/>
          <p:nvPr/>
        </p:nvSpPr>
        <p:spPr>
          <a:xfrm>
            <a:off x="11319526" y="19484519"/>
            <a:ext cx="18329216" cy="110799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defTabSz="4389437">
              <a:spcBef>
                <a:spcPts val="4900"/>
              </a:spcBef>
              <a:defRPr b="1"/>
            </a:lvl1pPr>
          </a:lstStyle>
          <a:p>
            <a:r>
              <a:rPr lang="en-US" sz="6600" b="0" dirty="0"/>
              <a:t>Goals</a:t>
            </a:r>
          </a:p>
        </p:txBody>
      </p:sp>
      <p:sp>
        <p:nvSpPr>
          <p:cNvPr id="58" name="Text Box 39">
            <a:extLst>
              <a:ext uri="{FF2B5EF4-FFF2-40B4-BE49-F238E27FC236}">
                <a16:creationId xmlns:a16="http://schemas.microsoft.com/office/drawing/2014/main" id="{D447A3B7-1FD2-4D75-8670-C25D6F10B0EA}"/>
              </a:ext>
            </a:extLst>
          </p:cNvPr>
          <p:cNvSpPr txBox="1"/>
          <p:nvPr/>
        </p:nvSpPr>
        <p:spPr>
          <a:xfrm>
            <a:off x="1054387" y="39152037"/>
            <a:ext cx="9280232" cy="2868688"/>
          </a:xfrm>
          <a:prstGeom prst="rect">
            <a:avLst/>
          </a:prstGeom>
          <a:ln w="12700">
            <a:miter lim="400000"/>
          </a:ln>
          <a:extLst>
            <a:ext uri="{C572A759-6A51-4108-AA02-DFA0A04FC94B}">
              <ma14:wrappingTextBoxFlag xmlns="" xmlns:ma14="http://schemas.microsoft.com/office/mac/drawingml/2011/main" val="1"/>
            </a:ext>
          </a:extLst>
        </p:spPr>
        <p:txBody>
          <a:bodyPr wrap="square" lIns="30584" tIns="30584" rIns="30584" bIns="30584">
            <a:spAutoFit/>
          </a:bodyPr>
          <a:lstStyle>
            <a:lvl1pPr algn="l" defTabSz="612775">
              <a:lnSpc>
                <a:spcPct val="95000"/>
              </a:lnSpc>
              <a:defRPr sz="3200">
                <a:latin typeface="Times New Roman"/>
                <a:ea typeface="Times New Roman"/>
                <a:cs typeface="Times New Roman"/>
                <a:sym typeface="Times New Roman"/>
              </a:defRPr>
            </a:lvl1pPr>
          </a:lstStyle>
          <a:p>
            <a:r>
              <a:rPr lang="en-US"/>
              <a:t>The maps reveal the spatial complexity of forest management challenges.</a:t>
            </a:r>
          </a:p>
          <a:p>
            <a:pPr marL="914400" indent="-457200">
              <a:buFont typeface="Arial" panose="020B0604020202020204" pitchFamily="34" charset="0"/>
              <a:buChar char="•"/>
            </a:pPr>
            <a:r>
              <a:rPr lang="en-US"/>
              <a:t>Diverse functions and goals to address</a:t>
            </a:r>
          </a:p>
          <a:p>
            <a:pPr marL="914400" indent="-457200">
              <a:buFont typeface="Arial" panose="020B0604020202020204" pitchFamily="34" charset="0"/>
              <a:buChar char="•"/>
            </a:pPr>
            <a:r>
              <a:rPr lang="en-US"/>
              <a:t>Uneven spatial scales: some very local, others global</a:t>
            </a:r>
          </a:p>
          <a:p>
            <a:pPr marL="914400" indent="-457200">
              <a:buFont typeface="Arial" panose="020B0604020202020204" pitchFamily="34" charset="0"/>
              <a:buChar char="•"/>
            </a:pPr>
            <a:r>
              <a:rPr lang="en-US"/>
              <a:t>Overlapping zones, potential hotspots for conflict</a:t>
            </a:r>
          </a:p>
        </p:txBody>
      </p:sp>
      <p:sp>
        <p:nvSpPr>
          <p:cNvPr id="59" name="Text Box 39">
            <a:extLst>
              <a:ext uri="{FF2B5EF4-FFF2-40B4-BE49-F238E27FC236}">
                <a16:creationId xmlns:a16="http://schemas.microsoft.com/office/drawing/2014/main" id="{A03E976B-69A1-43DC-B9B8-95188D48BB93}"/>
              </a:ext>
            </a:extLst>
          </p:cNvPr>
          <p:cNvSpPr txBox="1"/>
          <p:nvPr/>
        </p:nvSpPr>
        <p:spPr>
          <a:xfrm>
            <a:off x="11747087" y="16421600"/>
            <a:ext cx="17690254" cy="2868688"/>
          </a:xfrm>
          <a:prstGeom prst="rect">
            <a:avLst/>
          </a:prstGeom>
          <a:ln w="12700">
            <a:miter lim="400000"/>
          </a:ln>
          <a:extLst>
            <a:ext uri="{C572A759-6A51-4108-AA02-DFA0A04FC94B}">
              <ma14:wrappingTextBoxFlag xmlns="" xmlns:ma14="http://schemas.microsoft.com/office/mac/drawingml/2011/main" val="1"/>
            </a:ext>
          </a:extLst>
        </p:spPr>
        <p:txBody>
          <a:bodyPr wrap="square" lIns="30584" tIns="30584" rIns="30584" bIns="30584">
            <a:spAutoFit/>
          </a:bodyPr>
          <a:lstStyle>
            <a:lvl1pPr algn="l" defTabSz="612775">
              <a:lnSpc>
                <a:spcPct val="95000"/>
              </a:lnSpc>
              <a:defRPr sz="3200">
                <a:latin typeface="Times New Roman"/>
                <a:ea typeface="Times New Roman"/>
                <a:cs typeface="Times New Roman"/>
                <a:sym typeface="Times New Roman"/>
              </a:defRPr>
            </a:lvl1pPr>
          </a:lstStyle>
          <a:p>
            <a:r>
              <a:rPr lang="en-US"/>
              <a:t>The complexity of terrain and ecosystems across large landscapes presents significant challenges for management methods, including:</a:t>
            </a:r>
          </a:p>
          <a:p>
            <a:pPr marL="457200" indent="-457200">
              <a:buFont typeface="Arial" panose="020B0604020202020204" pitchFamily="34" charset="0"/>
              <a:buChar char="•"/>
            </a:pPr>
            <a:r>
              <a:rPr lang="en-US"/>
              <a:t>Modeling ecosystems accurately at broad spatial scales</a:t>
            </a:r>
          </a:p>
          <a:p>
            <a:pPr marL="457200" indent="-457200">
              <a:buFont typeface="Arial" panose="020B0604020202020204" pitchFamily="34" charset="0"/>
              <a:buChar char="•"/>
            </a:pPr>
            <a:r>
              <a:rPr lang="en-US"/>
              <a:t>Managing the computational complexity due to a large number of possible management actions</a:t>
            </a:r>
          </a:p>
          <a:p>
            <a:pPr marL="457200" indent="-457200">
              <a:buFont typeface="Arial" panose="020B0604020202020204" pitchFamily="34" charset="0"/>
              <a:buChar char="•"/>
            </a:pPr>
            <a:r>
              <a:rPr lang="en-US"/>
              <a:t>Meeting multiple, often conflicting constraints simultaneously</a:t>
            </a:r>
          </a:p>
          <a:p>
            <a:pPr marL="457200" indent="-457200">
              <a:buFont typeface="Arial" panose="020B0604020202020204" pitchFamily="34" charset="0"/>
              <a:buChar char="•"/>
            </a:pPr>
            <a:r>
              <a:rPr lang="en-US"/>
              <a:t>Adaptability of tools for different use (limit of optimality)</a:t>
            </a:r>
          </a:p>
        </p:txBody>
      </p:sp>
      <p:pic>
        <p:nvPicPr>
          <p:cNvPr id="11" name="Image 10">
            <a:extLst>
              <a:ext uri="{FF2B5EF4-FFF2-40B4-BE49-F238E27FC236}">
                <a16:creationId xmlns:a16="http://schemas.microsoft.com/office/drawing/2014/main" id="{F9985785-5FD7-472A-8100-EE5CAF167B8C}"/>
              </a:ext>
            </a:extLst>
          </p:cNvPr>
          <p:cNvPicPr>
            <a:picLocks noChangeAspect="1"/>
          </p:cNvPicPr>
          <p:nvPr/>
        </p:nvPicPr>
        <p:blipFill rotWithShape="1">
          <a:blip r:embed="rId9"/>
          <a:srcRect l="6189" t="5838"/>
          <a:stretch/>
        </p:blipFill>
        <p:spPr>
          <a:xfrm>
            <a:off x="11502225" y="20911534"/>
            <a:ext cx="8885699" cy="6221428"/>
          </a:xfrm>
          <a:prstGeom prst="rect">
            <a:avLst/>
          </a:prstGeom>
        </p:spPr>
      </p:pic>
      <p:pic>
        <p:nvPicPr>
          <p:cNvPr id="12" name="Image 11">
            <a:extLst>
              <a:ext uri="{FF2B5EF4-FFF2-40B4-BE49-F238E27FC236}">
                <a16:creationId xmlns:a16="http://schemas.microsoft.com/office/drawing/2014/main" id="{70DBDF97-3D4B-4CF6-94A3-52A6908F0EF8}"/>
              </a:ext>
            </a:extLst>
          </p:cNvPr>
          <p:cNvPicPr>
            <a:picLocks noChangeAspect="1"/>
          </p:cNvPicPr>
          <p:nvPr/>
        </p:nvPicPr>
        <p:blipFill>
          <a:blip r:embed="rId10"/>
          <a:stretch>
            <a:fillRect/>
          </a:stretch>
        </p:blipFill>
        <p:spPr>
          <a:xfrm>
            <a:off x="20605309" y="21945346"/>
            <a:ext cx="8885699" cy="6579678"/>
          </a:xfrm>
          <a:prstGeom prst="rect">
            <a:avLst/>
          </a:prstGeom>
        </p:spPr>
      </p:pic>
      <p:sp>
        <p:nvSpPr>
          <p:cNvPr id="62" name="Text Box 39">
            <a:extLst>
              <a:ext uri="{FF2B5EF4-FFF2-40B4-BE49-F238E27FC236}">
                <a16:creationId xmlns:a16="http://schemas.microsoft.com/office/drawing/2014/main" id="{DE884165-2C05-494A-89DE-88374FE7E7BD}"/>
              </a:ext>
            </a:extLst>
          </p:cNvPr>
          <p:cNvSpPr txBox="1"/>
          <p:nvPr/>
        </p:nvSpPr>
        <p:spPr>
          <a:xfrm>
            <a:off x="12401595" y="29785089"/>
            <a:ext cx="16995328" cy="1465226"/>
          </a:xfrm>
          <a:prstGeom prst="rect">
            <a:avLst/>
          </a:prstGeom>
          <a:ln w="12700">
            <a:miter lim="400000"/>
          </a:ln>
          <a:extLst>
            <a:ext uri="{C572A759-6A51-4108-AA02-DFA0A04FC94B}">
              <ma14:wrappingTextBoxFlag xmlns="" xmlns:ma14="http://schemas.microsoft.com/office/mac/drawingml/2011/main" val="1"/>
            </a:ext>
          </a:extLst>
        </p:spPr>
        <p:txBody>
          <a:bodyPr wrap="square" lIns="30584" tIns="30584" rIns="30584" bIns="30584">
            <a:spAutoFit/>
          </a:bodyPr>
          <a:lstStyle>
            <a:lvl1pPr algn="l" defTabSz="612775">
              <a:lnSpc>
                <a:spcPct val="95000"/>
              </a:lnSpc>
              <a:defRPr sz="3200">
                <a:latin typeface="Times New Roman"/>
                <a:ea typeface="Times New Roman"/>
                <a:cs typeface="Times New Roman"/>
                <a:sym typeface="Times New Roman"/>
              </a:defRPr>
            </a:lvl1pPr>
          </a:lstStyle>
          <a:p>
            <a:pPr marL="457200" indent="-457200">
              <a:buFont typeface="Arial" panose="020B0604020202020204" pitchFamily="34" charset="0"/>
              <a:buChar char="•"/>
            </a:pPr>
            <a:r>
              <a:rPr lang="en-US" dirty="0"/>
              <a:t>Extend the mechanistic forest model </a:t>
            </a:r>
            <a:r>
              <a:rPr lang="en-US" dirty="0" err="1"/>
              <a:t>ForCEEPS</a:t>
            </a:r>
            <a:r>
              <a:rPr lang="en-US" dirty="0"/>
              <a:t> to predict dynamics at the forest scale</a:t>
            </a:r>
          </a:p>
          <a:p>
            <a:pPr marL="457200" indent="-457200">
              <a:buFont typeface="Arial" panose="020B0604020202020204" pitchFamily="34" charset="0"/>
              <a:buChar char="•"/>
            </a:pPr>
            <a:r>
              <a:rPr lang="en-US" dirty="0"/>
              <a:t>Apply viability theory to formulate forest management as a control problem under multiple constraints</a:t>
            </a:r>
          </a:p>
        </p:txBody>
      </p:sp>
      <p:sp>
        <p:nvSpPr>
          <p:cNvPr id="63" name="Flèche : courbe vers la gauche 62">
            <a:extLst>
              <a:ext uri="{FF2B5EF4-FFF2-40B4-BE49-F238E27FC236}">
                <a16:creationId xmlns:a16="http://schemas.microsoft.com/office/drawing/2014/main" id="{A8C390F6-FD0F-4D1C-B855-FB22433BF49D}"/>
              </a:ext>
            </a:extLst>
          </p:cNvPr>
          <p:cNvSpPr/>
          <p:nvPr/>
        </p:nvSpPr>
        <p:spPr>
          <a:xfrm rot="6922724">
            <a:off x="19197542" y="26685673"/>
            <a:ext cx="1339386" cy="2363989"/>
          </a:xfrm>
          <a:prstGeom prst="curvedLeftArrow">
            <a:avLst>
              <a:gd name="adj1" fmla="val 25000"/>
              <a:gd name="adj2" fmla="val 80083"/>
              <a:gd name="adj3" fmla="val 48766"/>
            </a:avLst>
          </a:prstGeom>
          <a:solidFill>
            <a:srgbClr val="18823E">
              <a:alpha val="56078"/>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8200" b="0" i="0" u="none" strike="noStrike" cap="none" spc="0" normalizeH="0" baseline="0">
              <a:ln>
                <a:noFill/>
              </a:ln>
              <a:solidFill>
                <a:srgbClr val="000000"/>
              </a:solidFill>
              <a:effectLst/>
              <a:uFillTx/>
              <a:latin typeface="+mj-lt"/>
              <a:ea typeface="+mj-ea"/>
              <a:cs typeface="+mj-cs"/>
              <a:sym typeface="Arial"/>
            </a:endParaRPr>
          </a:p>
        </p:txBody>
      </p:sp>
      <p:sp>
        <p:nvSpPr>
          <p:cNvPr id="14" name="ZoneTexte 13">
            <a:extLst>
              <a:ext uri="{FF2B5EF4-FFF2-40B4-BE49-F238E27FC236}">
                <a16:creationId xmlns:a16="http://schemas.microsoft.com/office/drawing/2014/main" id="{29603EBF-E6F1-48FF-B809-B0C38DB30D6B}"/>
              </a:ext>
            </a:extLst>
          </p:cNvPr>
          <p:cNvSpPr txBox="1"/>
          <p:nvPr/>
        </p:nvSpPr>
        <p:spPr>
          <a:xfrm>
            <a:off x="9022709" y="22457536"/>
            <a:ext cx="2336386"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a:ln>
                  <a:noFill/>
                </a:ln>
                <a:solidFill>
                  <a:srgbClr val="000000"/>
                </a:solidFill>
                <a:effectLst/>
                <a:uFillTx/>
                <a:latin typeface="+mj-lt"/>
                <a:ea typeface="+mj-ea"/>
                <a:cs typeface="+mj-cs"/>
                <a:sym typeface="Arial"/>
              </a:rPr>
              <a:t>[6.]</a:t>
            </a:r>
          </a:p>
        </p:txBody>
      </p:sp>
      <p:sp>
        <p:nvSpPr>
          <p:cNvPr id="64" name="ZoneTexte 63">
            <a:extLst>
              <a:ext uri="{FF2B5EF4-FFF2-40B4-BE49-F238E27FC236}">
                <a16:creationId xmlns:a16="http://schemas.microsoft.com/office/drawing/2014/main" id="{B60EA2FD-039F-4474-B025-B6AC0FEF2A9E}"/>
              </a:ext>
            </a:extLst>
          </p:cNvPr>
          <p:cNvSpPr txBox="1"/>
          <p:nvPr/>
        </p:nvSpPr>
        <p:spPr>
          <a:xfrm>
            <a:off x="9011368" y="30405611"/>
            <a:ext cx="2336386"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a:ln>
                  <a:noFill/>
                </a:ln>
                <a:solidFill>
                  <a:srgbClr val="000000"/>
                </a:solidFill>
                <a:effectLst/>
                <a:uFillTx/>
                <a:latin typeface="+mj-lt"/>
                <a:ea typeface="+mj-ea"/>
                <a:cs typeface="+mj-cs"/>
                <a:sym typeface="Arial"/>
              </a:rPr>
              <a:t>[6.]</a:t>
            </a:r>
          </a:p>
        </p:txBody>
      </p:sp>
      <p:sp>
        <p:nvSpPr>
          <p:cNvPr id="66" name="ZoneTexte 65">
            <a:extLst>
              <a:ext uri="{FF2B5EF4-FFF2-40B4-BE49-F238E27FC236}">
                <a16:creationId xmlns:a16="http://schemas.microsoft.com/office/drawing/2014/main" id="{1D2D9582-34BB-4EEB-A756-DB112EB40BF4}"/>
              </a:ext>
            </a:extLst>
          </p:cNvPr>
          <p:cNvSpPr txBox="1"/>
          <p:nvPr/>
        </p:nvSpPr>
        <p:spPr>
          <a:xfrm>
            <a:off x="18922834" y="26632666"/>
            <a:ext cx="2336386"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a:ln>
                  <a:noFill/>
                </a:ln>
                <a:solidFill>
                  <a:srgbClr val="000000"/>
                </a:solidFill>
                <a:effectLst/>
                <a:uFillTx/>
                <a:latin typeface="+mj-lt"/>
                <a:ea typeface="+mj-ea"/>
                <a:cs typeface="+mj-cs"/>
                <a:sym typeface="Arial"/>
              </a:rPr>
              <a:t>[7.]</a:t>
            </a:r>
          </a:p>
        </p:txBody>
      </p:sp>
      <p:sp>
        <p:nvSpPr>
          <p:cNvPr id="3" name="ZoneTexte 2">
            <a:extLst>
              <a:ext uri="{FF2B5EF4-FFF2-40B4-BE49-F238E27FC236}">
                <a16:creationId xmlns:a16="http://schemas.microsoft.com/office/drawing/2014/main" id="{87568692-674F-444D-A072-FF58FD8B340B}"/>
              </a:ext>
            </a:extLst>
          </p:cNvPr>
          <p:cNvSpPr txBox="1"/>
          <p:nvPr/>
        </p:nvSpPr>
        <p:spPr>
          <a:xfrm>
            <a:off x="3183208" y="4920926"/>
            <a:ext cx="25523732" cy="24622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4389437" rtl="0" eaLnBrk="1" fontAlgn="auto" latinLnBrk="0" hangingPunct="0">
              <a:lnSpc>
                <a:spcPct val="100000"/>
              </a:lnSpc>
              <a:spcBef>
                <a:spcPts val="6000"/>
              </a:spcBef>
              <a:spcAft>
                <a:spcPts val="0"/>
              </a:spcAft>
              <a:buClrTx/>
              <a:buSzTx/>
              <a:buFontTx/>
              <a:buNone/>
              <a:tabLst/>
              <a:defRPr b="1"/>
            </a:pPr>
            <a:r>
              <a:rPr kumimoji="0" lang="en-US" sz="6000" b="1" i="0" u="none" strike="noStrike" kern="0" cap="none" spc="0" normalizeH="0" baseline="0">
                <a:ln>
                  <a:noFill/>
                </a:ln>
                <a:solidFill>
                  <a:srgbClr val="000000"/>
                </a:solidFill>
                <a:effectLst/>
                <a:uLnTx/>
                <a:uFillTx/>
                <a:latin typeface="Arial"/>
                <a:cs typeface="Arial"/>
                <a:sym typeface="Arial"/>
              </a:rPr>
              <a:t>Clémentine de Montgolfier</a:t>
            </a:r>
          </a:p>
          <a:p>
            <a:pPr marL="0" marR="0" lvl="0" indent="0" algn="ctr" defTabSz="4389437" rtl="0" eaLnBrk="1" fontAlgn="auto" latinLnBrk="0" hangingPunct="0">
              <a:lnSpc>
                <a:spcPct val="100000"/>
              </a:lnSpc>
              <a:spcBef>
                <a:spcPts val="0"/>
              </a:spcBef>
              <a:spcAft>
                <a:spcPts val="0"/>
              </a:spcAft>
              <a:buClrTx/>
              <a:buSzTx/>
              <a:buFontTx/>
              <a:buNone/>
              <a:tabLst/>
              <a:defRPr sz="4800" b="1" i="1"/>
            </a:pPr>
            <a:r>
              <a:rPr kumimoji="0" lang="en-US" sz="4400" b="1" i="1" u="none" strike="noStrike" kern="0" cap="none" spc="0" normalizeH="0" baseline="0">
                <a:ln>
                  <a:noFill/>
                </a:ln>
                <a:solidFill>
                  <a:srgbClr val="000000"/>
                </a:solidFill>
                <a:effectLst/>
                <a:uLnTx/>
                <a:uFillTx/>
                <a:latin typeface="Arial"/>
                <a:cs typeface="Arial"/>
                <a:sym typeface="Arial"/>
              </a:rPr>
              <a:t>Jean-Denis Mathias (LISC), Jean-Baptiste Pichancourt (LISC), Marion Jourdan (SILVA)</a:t>
            </a:r>
          </a:p>
        </p:txBody>
      </p:sp>
      <p:sp>
        <p:nvSpPr>
          <p:cNvPr id="44" name="Text Box 9">
            <a:extLst>
              <a:ext uri="{FF2B5EF4-FFF2-40B4-BE49-F238E27FC236}">
                <a16:creationId xmlns:a16="http://schemas.microsoft.com/office/drawing/2014/main" id="{00573F51-B5CA-4ED9-AE9A-AA4146D9CF24}"/>
              </a:ext>
            </a:extLst>
          </p:cNvPr>
          <p:cNvSpPr/>
          <p:nvPr/>
        </p:nvSpPr>
        <p:spPr>
          <a:xfrm>
            <a:off x="990669" y="9751724"/>
            <a:ext cx="28364400" cy="3365622"/>
          </a:xfrm>
          <a:prstGeom prst="rect">
            <a:avLst/>
          </a:prstGeom>
          <a:noFill/>
          <a:ln w="1270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l" defTabSz="4389480">
              <a:lnSpc>
                <a:spcPct val="95000"/>
              </a:lnSpc>
              <a:tabLst>
                <a:tab pos="0" algn="l"/>
              </a:tabLst>
            </a:pPr>
            <a:r>
              <a:rPr lang="en-US" sz="2800" b="0" u="none" strike="noStrike">
                <a:solidFill>
                  <a:srgbClr val="000000"/>
                </a:solidFill>
                <a:effectLst/>
                <a:uFillTx/>
                <a:latin typeface="Times New Roman"/>
                <a:ea typeface="Times New Roman"/>
              </a:rPr>
              <a:t>Managing multi-functional forests— for timber, carbon storage, and biodiversity—requires planning at both the stand and landscape scales. While stand-level management can enhance local biodiversity, it may lead to homogenization across the landscape, reducing habitat diversity and increasing vulnerability to disturbances [1]. Landscape-scale approaches are better suited to address these broader ecological dynamics and support more resilient forest systems [2].</a:t>
            </a:r>
          </a:p>
          <a:p>
            <a:pPr algn="l" defTabSz="4389480">
              <a:lnSpc>
                <a:spcPct val="95000"/>
              </a:lnSpc>
              <a:tabLst>
                <a:tab pos="0" algn="l"/>
              </a:tabLst>
            </a:pPr>
            <a:endParaRPr lang="en-US" sz="2800" b="0" u="none" strike="noStrike">
              <a:solidFill>
                <a:srgbClr val="000000"/>
              </a:solidFill>
              <a:effectLst/>
              <a:uFillTx/>
              <a:latin typeface="Times New Roman"/>
              <a:ea typeface="Times New Roman"/>
            </a:endParaRPr>
          </a:p>
          <a:p>
            <a:pPr algn="l" defTabSz="4389480">
              <a:lnSpc>
                <a:spcPct val="95000"/>
              </a:lnSpc>
              <a:tabLst>
                <a:tab pos="0" algn="l"/>
              </a:tabLst>
            </a:pPr>
            <a:r>
              <a:rPr lang="en-US" sz="2800" b="0" u="none" strike="noStrike">
                <a:solidFill>
                  <a:srgbClr val="000000"/>
                </a:solidFill>
                <a:effectLst/>
                <a:uFillTx/>
                <a:latin typeface="Times New Roman"/>
                <a:ea typeface="Times New Roman"/>
              </a:rPr>
              <a:t>However, implementing effective landscape-scale planning is complex. It involves not only deciding what management actions to take but also where to apply them across heterogeneous forested areas.</a:t>
            </a:r>
          </a:p>
          <a:p>
            <a:pPr algn="l" defTabSz="4389480">
              <a:lnSpc>
                <a:spcPct val="95000"/>
              </a:lnSpc>
              <a:tabLst>
                <a:tab pos="0" algn="l"/>
              </a:tabLst>
            </a:pPr>
            <a:r>
              <a:rPr lang="en-US" sz="2800" b="0" u="none" strike="noStrike">
                <a:solidFill>
                  <a:srgbClr val="000000"/>
                </a:solidFill>
                <a:effectLst/>
                <a:uFillTx/>
                <a:latin typeface="Times New Roman"/>
                <a:ea typeface="Times New Roman"/>
              </a:rPr>
              <a:t>To address these challenges, innovative tools from complex systems dynamics and control theory are needed. These methods can help explore a broad set of planning strategies that account for spatial structure, trade-offs, and the need for multi-functionality in forest landscapes..</a:t>
            </a:r>
            <a:endParaRPr lang="en-US" sz="2800" b="0" u="none" strike="noStrike">
              <a:solidFill>
                <a:srgbClr val="FFFFFF"/>
              </a:solidFill>
              <a:effectLst/>
              <a:uFillTx/>
              <a:latin typeface="Arial"/>
            </a:endParaRPr>
          </a:p>
        </p:txBody>
      </p:sp>
      <p:sp>
        <p:nvSpPr>
          <p:cNvPr id="51" name="ZoneTexte 50">
            <a:extLst>
              <a:ext uri="{FF2B5EF4-FFF2-40B4-BE49-F238E27FC236}">
                <a16:creationId xmlns:a16="http://schemas.microsoft.com/office/drawing/2014/main" id="{6B88D76C-33C9-4E08-8B70-E39F94DB6E2D}"/>
              </a:ext>
            </a:extLst>
          </p:cNvPr>
          <p:cNvSpPr txBox="1"/>
          <p:nvPr/>
        </p:nvSpPr>
        <p:spPr>
          <a:xfrm>
            <a:off x="9484909" y="18457250"/>
            <a:ext cx="451796"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Low</a:t>
            </a:r>
          </a:p>
        </p:txBody>
      </p:sp>
      <p:sp>
        <p:nvSpPr>
          <p:cNvPr id="55" name="ZoneTexte 54">
            <a:extLst>
              <a:ext uri="{FF2B5EF4-FFF2-40B4-BE49-F238E27FC236}">
                <a16:creationId xmlns:a16="http://schemas.microsoft.com/office/drawing/2014/main" id="{1B6CF719-F0F6-49EC-91CE-FBD923EB2891}"/>
              </a:ext>
            </a:extLst>
          </p:cNvPr>
          <p:cNvSpPr txBox="1"/>
          <p:nvPr/>
        </p:nvSpPr>
        <p:spPr>
          <a:xfrm>
            <a:off x="9475523" y="18660709"/>
            <a:ext cx="647058"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None</a:t>
            </a:r>
          </a:p>
        </p:txBody>
      </p:sp>
      <p:sp>
        <p:nvSpPr>
          <p:cNvPr id="50" name="ZoneTexte 49">
            <a:extLst>
              <a:ext uri="{FF2B5EF4-FFF2-40B4-BE49-F238E27FC236}">
                <a16:creationId xmlns:a16="http://schemas.microsoft.com/office/drawing/2014/main" id="{A1A7DFE2-2EB5-45A7-848D-59F48C15FF47}"/>
              </a:ext>
            </a:extLst>
          </p:cNvPr>
          <p:cNvSpPr txBox="1"/>
          <p:nvPr/>
        </p:nvSpPr>
        <p:spPr>
          <a:xfrm>
            <a:off x="9484908" y="18261275"/>
            <a:ext cx="703427"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Medium</a:t>
            </a:r>
          </a:p>
        </p:txBody>
      </p:sp>
      <p:sp>
        <p:nvSpPr>
          <p:cNvPr id="5" name="ZoneTexte 4">
            <a:extLst>
              <a:ext uri="{FF2B5EF4-FFF2-40B4-BE49-F238E27FC236}">
                <a16:creationId xmlns:a16="http://schemas.microsoft.com/office/drawing/2014/main" id="{55E80894-438A-4592-BF76-A1831A3C036B}"/>
              </a:ext>
            </a:extLst>
          </p:cNvPr>
          <p:cNvSpPr txBox="1"/>
          <p:nvPr/>
        </p:nvSpPr>
        <p:spPr>
          <a:xfrm>
            <a:off x="9484907" y="18063435"/>
            <a:ext cx="451796"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High</a:t>
            </a:r>
          </a:p>
        </p:txBody>
      </p:sp>
      <p:sp>
        <p:nvSpPr>
          <p:cNvPr id="7" name="Rectangle 6">
            <a:extLst>
              <a:ext uri="{FF2B5EF4-FFF2-40B4-BE49-F238E27FC236}">
                <a16:creationId xmlns:a16="http://schemas.microsoft.com/office/drawing/2014/main" id="{3EE48A4C-2491-4201-9F60-5401E70AE391}"/>
              </a:ext>
            </a:extLst>
          </p:cNvPr>
          <p:cNvSpPr/>
          <p:nvPr/>
        </p:nvSpPr>
        <p:spPr>
          <a:xfrm>
            <a:off x="8420100" y="16888199"/>
            <a:ext cx="1994453" cy="461663"/>
          </a:xfrm>
          <a:prstGeom prst="rect">
            <a:avLst/>
          </a:prstGeom>
          <a:solidFill>
            <a:schemeClr val="accent3">
              <a:lumOff val="44000"/>
            </a:schemeClr>
          </a:solidFill>
          <a:ln w="6350" cap="flat">
            <a:solidFill>
              <a:schemeClr val="tx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n-lt"/>
                <a:ea typeface="+mj-ea"/>
                <a:cs typeface="+mj-cs"/>
                <a:sym typeface="Arial"/>
              </a:rPr>
              <a:t>Map of </a:t>
            </a:r>
            <a:r>
              <a:rPr lang="en-US" sz="1200">
                <a:latin typeface="+mn-lt"/>
              </a:rPr>
              <a:t>p</a:t>
            </a:r>
            <a:r>
              <a:rPr kumimoji="0" lang="en-US" sz="1200" b="0" i="0" u="none" strike="noStrike" cap="none" spc="0" normalizeH="0" baseline="0">
                <a:ln>
                  <a:noFill/>
                </a:ln>
                <a:solidFill>
                  <a:srgbClr val="000000"/>
                </a:solidFill>
                <a:effectLst/>
                <a:uFillTx/>
                <a:latin typeface="+mn-lt"/>
                <a:ea typeface="+mj-ea"/>
                <a:cs typeface="+mj-cs"/>
                <a:sym typeface="Arial"/>
              </a:rPr>
              <a:t>riority levels for the production </a:t>
            </a:r>
            <a:r>
              <a:rPr lang="en-US" sz="1200">
                <a:latin typeface="+mn-lt"/>
              </a:rPr>
              <a:t>f</a:t>
            </a:r>
            <a:r>
              <a:rPr kumimoji="0" lang="en-US" sz="1200" b="0" i="0" u="none" strike="noStrike" cap="none" spc="0" normalizeH="0" baseline="0">
                <a:ln>
                  <a:noFill/>
                </a:ln>
                <a:solidFill>
                  <a:srgbClr val="000000"/>
                </a:solidFill>
                <a:effectLst/>
                <a:uFillTx/>
                <a:latin typeface="+mn-lt"/>
                <a:ea typeface="+mj-ea"/>
                <a:cs typeface="+mj-cs"/>
                <a:sym typeface="Arial"/>
              </a:rPr>
              <a:t>unction </a:t>
            </a:r>
          </a:p>
        </p:txBody>
      </p:sp>
      <p:sp>
        <p:nvSpPr>
          <p:cNvPr id="49" name="ZoneTexte 48">
            <a:extLst>
              <a:ext uri="{FF2B5EF4-FFF2-40B4-BE49-F238E27FC236}">
                <a16:creationId xmlns:a16="http://schemas.microsoft.com/office/drawing/2014/main" id="{DB99316C-C3F6-499E-8A57-07CA1611FD64}"/>
              </a:ext>
            </a:extLst>
          </p:cNvPr>
          <p:cNvSpPr txBox="1"/>
          <p:nvPr/>
        </p:nvSpPr>
        <p:spPr>
          <a:xfrm>
            <a:off x="9205565" y="17871271"/>
            <a:ext cx="647058"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Priority</a:t>
            </a:r>
          </a:p>
        </p:txBody>
      </p:sp>
      <p:sp>
        <p:nvSpPr>
          <p:cNvPr id="57" name="Rectangle 56">
            <a:extLst>
              <a:ext uri="{FF2B5EF4-FFF2-40B4-BE49-F238E27FC236}">
                <a16:creationId xmlns:a16="http://schemas.microsoft.com/office/drawing/2014/main" id="{477A272C-40A4-4D5A-901D-008BDD7B9A4C}"/>
              </a:ext>
            </a:extLst>
          </p:cNvPr>
          <p:cNvSpPr/>
          <p:nvPr/>
        </p:nvSpPr>
        <p:spPr>
          <a:xfrm>
            <a:off x="8419196" y="24827989"/>
            <a:ext cx="1994453" cy="461663"/>
          </a:xfrm>
          <a:prstGeom prst="rect">
            <a:avLst/>
          </a:prstGeom>
          <a:solidFill>
            <a:schemeClr val="accent3">
              <a:lumOff val="44000"/>
            </a:schemeClr>
          </a:solidFill>
          <a:ln w="6350" cap="flat">
            <a:solidFill>
              <a:schemeClr val="tx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n-lt"/>
                <a:ea typeface="+mj-ea"/>
                <a:cs typeface="+mj-cs"/>
                <a:sym typeface="Arial"/>
              </a:rPr>
              <a:t>Map of </a:t>
            </a:r>
            <a:r>
              <a:rPr lang="en-US" sz="1200">
                <a:latin typeface="+mn-lt"/>
              </a:rPr>
              <a:t>p</a:t>
            </a:r>
            <a:r>
              <a:rPr kumimoji="0" lang="en-US" sz="1200" b="0" i="0" u="none" strike="noStrike" cap="none" spc="0" normalizeH="0" baseline="0">
                <a:ln>
                  <a:noFill/>
                </a:ln>
                <a:solidFill>
                  <a:srgbClr val="000000"/>
                </a:solidFill>
                <a:effectLst/>
                <a:uFillTx/>
                <a:latin typeface="+mn-lt"/>
                <a:ea typeface="+mj-ea"/>
                <a:cs typeface="+mj-cs"/>
                <a:sym typeface="Arial"/>
              </a:rPr>
              <a:t>riority levels for the ecological </a:t>
            </a:r>
            <a:r>
              <a:rPr lang="en-US" sz="1200">
                <a:latin typeface="+mn-lt"/>
              </a:rPr>
              <a:t>f</a:t>
            </a:r>
            <a:r>
              <a:rPr kumimoji="0" lang="en-US" sz="1200" b="0" i="0" u="none" strike="noStrike" cap="none" spc="0" normalizeH="0" baseline="0">
                <a:ln>
                  <a:noFill/>
                </a:ln>
                <a:solidFill>
                  <a:srgbClr val="000000"/>
                </a:solidFill>
                <a:effectLst/>
                <a:uFillTx/>
                <a:latin typeface="+mn-lt"/>
                <a:ea typeface="+mj-ea"/>
                <a:cs typeface="+mj-cs"/>
                <a:sym typeface="Arial"/>
              </a:rPr>
              <a:t>unction </a:t>
            </a:r>
          </a:p>
        </p:txBody>
      </p:sp>
      <p:sp>
        <p:nvSpPr>
          <p:cNvPr id="60" name="Rectangle 59">
            <a:extLst>
              <a:ext uri="{FF2B5EF4-FFF2-40B4-BE49-F238E27FC236}">
                <a16:creationId xmlns:a16="http://schemas.microsoft.com/office/drawing/2014/main" id="{FA57951B-73B2-4B4E-97E0-80BD8915F909}"/>
              </a:ext>
            </a:extLst>
          </p:cNvPr>
          <p:cNvSpPr/>
          <p:nvPr/>
        </p:nvSpPr>
        <p:spPr>
          <a:xfrm>
            <a:off x="8451850" y="32652357"/>
            <a:ext cx="1994453" cy="646329"/>
          </a:xfrm>
          <a:prstGeom prst="rect">
            <a:avLst/>
          </a:prstGeom>
          <a:solidFill>
            <a:schemeClr val="accent3">
              <a:lumOff val="44000"/>
            </a:schemeClr>
          </a:solidFill>
          <a:ln w="6350" cap="flat">
            <a:solidFill>
              <a:schemeClr val="tx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n-lt"/>
                <a:ea typeface="+mj-ea"/>
                <a:cs typeface="+mj-cs"/>
                <a:sym typeface="Arial"/>
              </a:rPr>
              <a:t>Map of Landscape Sensitivities and Tourist Attractions</a:t>
            </a:r>
          </a:p>
        </p:txBody>
      </p:sp>
      <p:sp>
        <p:nvSpPr>
          <p:cNvPr id="69" name="ZoneTexte 68">
            <a:extLst>
              <a:ext uri="{FF2B5EF4-FFF2-40B4-BE49-F238E27FC236}">
                <a16:creationId xmlns:a16="http://schemas.microsoft.com/office/drawing/2014/main" id="{C0E8CA68-E575-4107-87D6-1459A54DB99C}"/>
              </a:ext>
            </a:extLst>
          </p:cNvPr>
          <p:cNvSpPr txBox="1"/>
          <p:nvPr/>
        </p:nvSpPr>
        <p:spPr>
          <a:xfrm>
            <a:off x="8575375" y="29551440"/>
            <a:ext cx="647058"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Medium</a:t>
            </a:r>
          </a:p>
        </p:txBody>
      </p:sp>
      <p:sp>
        <p:nvSpPr>
          <p:cNvPr id="61" name="ZoneTexte 60">
            <a:extLst>
              <a:ext uri="{FF2B5EF4-FFF2-40B4-BE49-F238E27FC236}">
                <a16:creationId xmlns:a16="http://schemas.microsoft.com/office/drawing/2014/main" id="{A5D8AFB9-0726-4799-AFB8-7C9C9BFFF794}"/>
              </a:ext>
            </a:extLst>
          </p:cNvPr>
          <p:cNvSpPr txBox="1"/>
          <p:nvPr/>
        </p:nvSpPr>
        <p:spPr>
          <a:xfrm>
            <a:off x="8255067" y="29355710"/>
            <a:ext cx="967366"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Priority</a:t>
            </a:r>
          </a:p>
        </p:txBody>
      </p:sp>
      <p:pic>
        <p:nvPicPr>
          <p:cNvPr id="74" name="Image 73">
            <a:extLst>
              <a:ext uri="{FF2B5EF4-FFF2-40B4-BE49-F238E27FC236}">
                <a16:creationId xmlns:a16="http://schemas.microsoft.com/office/drawing/2014/main" id="{EA41366C-41F7-4425-9594-BF3A724A284A}"/>
              </a:ext>
            </a:extLst>
          </p:cNvPr>
          <p:cNvPicPr>
            <a:picLocks noChangeAspect="1"/>
          </p:cNvPicPr>
          <p:nvPr/>
        </p:nvPicPr>
        <p:blipFill rotWithShape="1">
          <a:blip r:embed="rId6"/>
          <a:srcRect l="75959" t="58233" r="1206" b="1542"/>
          <a:stretch/>
        </p:blipFill>
        <p:spPr>
          <a:xfrm>
            <a:off x="7744452" y="35344219"/>
            <a:ext cx="2647692" cy="3319719"/>
          </a:xfrm>
          <a:prstGeom prst="rect">
            <a:avLst/>
          </a:prstGeom>
        </p:spPr>
      </p:pic>
      <p:sp>
        <p:nvSpPr>
          <p:cNvPr id="70" name="ZoneTexte 69">
            <a:extLst>
              <a:ext uri="{FF2B5EF4-FFF2-40B4-BE49-F238E27FC236}">
                <a16:creationId xmlns:a16="http://schemas.microsoft.com/office/drawing/2014/main" id="{D9D3230A-E6CF-4414-B684-035A2BAEDC55}"/>
              </a:ext>
            </a:extLst>
          </p:cNvPr>
          <p:cNvSpPr txBox="1"/>
          <p:nvPr/>
        </p:nvSpPr>
        <p:spPr>
          <a:xfrm>
            <a:off x="8157138" y="37248508"/>
            <a:ext cx="1647959"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High-traffic roads</a:t>
            </a:r>
          </a:p>
        </p:txBody>
      </p:sp>
      <p:sp>
        <p:nvSpPr>
          <p:cNvPr id="71" name="ZoneTexte 70">
            <a:extLst>
              <a:ext uri="{FF2B5EF4-FFF2-40B4-BE49-F238E27FC236}">
                <a16:creationId xmlns:a16="http://schemas.microsoft.com/office/drawing/2014/main" id="{6AFE885A-73ED-45B7-A47D-771BBA501B08}"/>
              </a:ext>
            </a:extLst>
          </p:cNvPr>
          <p:cNvSpPr txBox="1"/>
          <p:nvPr/>
        </p:nvSpPr>
        <p:spPr>
          <a:xfrm>
            <a:off x="8151091" y="37611395"/>
            <a:ext cx="2037243"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Moderate-traffic roads</a:t>
            </a:r>
          </a:p>
        </p:txBody>
      </p:sp>
      <p:sp>
        <p:nvSpPr>
          <p:cNvPr id="72" name="ZoneTexte 71">
            <a:extLst>
              <a:ext uri="{FF2B5EF4-FFF2-40B4-BE49-F238E27FC236}">
                <a16:creationId xmlns:a16="http://schemas.microsoft.com/office/drawing/2014/main" id="{D28D31E3-CCD9-4095-B8B4-1C8FD117F049}"/>
              </a:ext>
            </a:extLst>
          </p:cNvPr>
          <p:cNvSpPr txBox="1"/>
          <p:nvPr/>
        </p:nvSpPr>
        <p:spPr>
          <a:xfrm>
            <a:off x="8127346" y="37961920"/>
            <a:ext cx="2245748"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Heavily Visited Landscape Area</a:t>
            </a:r>
          </a:p>
        </p:txBody>
      </p:sp>
      <p:sp>
        <p:nvSpPr>
          <p:cNvPr id="73" name="ZoneTexte 72">
            <a:extLst>
              <a:ext uri="{FF2B5EF4-FFF2-40B4-BE49-F238E27FC236}">
                <a16:creationId xmlns:a16="http://schemas.microsoft.com/office/drawing/2014/main" id="{DECAEFB3-69F8-419E-A7C5-80E67A918B53}"/>
              </a:ext>
            </a:extLst>
          </p:cNvPr>
          <p:cNvSpPr txBox="1"/>
          <p:nvPr/>
        </p:nvSpPr>
        <p:spPr>
          <a:xfrm>
            <a:off x="8145668" y="38166752"/>
            <a:ext cx="2177481"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200"/>
              <a:t>Both visited and distant view </a:t>
            </a:r>
            <a:endParaRPr kumimoji="0" lang="en-US" sz="1200" b="0" i="0" u="none" strike="noStrike" cap="none" spc="0" normalizeH="0" baseline="0">
              <a:ln>
                <a:noFill/>
              </a:ln>
              <a:solidFill>
                <a:srgbClr val="000000"/>
              </a:solidFill>
              <a:effectLst/>
              <a:uFillTx/>
              <a:latin typeface="+mj-lt"/>
              <a:ea typeface="+mj-ea"/>
              <a:cs typeface="+mj-cs"/>
              <a:sym typeface="Arial"/>
            </a:endParaRPr>
          </a:p>
        </p:txBody>
      </p:sp>
      <p:sp>
        <p:nvSpPr>
          <p:cNvPr id="65" name="ZoneTexte 64">
            <a:extLst>
              <a:ext uri="{FF2B5EF4-FFF2-40B4-BE49-F238E27FC236}">
                <a16:creationId xmlns:a16="http://schemas.microsoft.com/office/drawing/2014/main" id="{B0064731-2460-4D68-A6C3-C23DE19D70A0}"/>
              </a:ext>
            </a:extLst>
          </p:cNvPr>
          <p:cNvSpPr txBox="1"/>
          <p:nvPr/>
        </p:nvSpPr>
        <p:spPr>
          <a:xfrm>
            <a:off x="6290356" y="38225164"/>
            <a:ext cx="2336386"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a:ln>
                  <a:noFill/>
                </a:ln>
                <a:solidFill>
                  <a:srgbClr val="000000"/>
                </a:solidFill>
                <a:effectLst/>
                <a:uFillTx/>
                <a:latin typeface="+mj-lt"/>
                <a:ea typeface="+mj-ea"/>
                <a:cs typeface="+mj-cs"/>
                <a:sym typeface="Arial"/>
              </a:rPr>
              <a:t>[6.]</a:t>
            </a:r>
          </a:p>
        </p:txBody>
      </p:sp>
      <p:sp>
        <p:nvSpPr>
          <p:cNvPr id="75" name="ZoneTexte 74">
            <a:extLst>
              <a:ext uri="{FF2B5EF4-FFF2-40B4-BE49-F238E27FC236}">
                <a16:creationId xmlns:a16="http://schemas.microsoft.com/office/drawing/2014/main" id="{8CFF6860-A3B7-49F7-9735-2FB22323E181}"/>
              </a:ext>
            </a:extLst>
          </p:cNvPr>
          <p:cNvSpPr txBox="1"/>
          <p:nvPr/>
        </p:nvSpPr>
        <p:spPr>
          <a:xfrm>
            <a:off x="8150787" y="38371842"/>
            <a:ext cx="2177482"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Distant View Landscape Area</a:t>
            </a:r>
          </a:p>
        </p:txBody>
      </p:sp>
      <p:sp>
        <p:nvSpPr>
          <p:cNvPr id="76" name="ZoneTexte 75">
            <a:extLst>
              <a:ext uri="{FF2B5EF4-FFF2-40B4-BE49-F238E27FC236}">
                <a16:creationId xmlns:a16="http://schemas.microsoft.com/office/drawing/2014/main" id="{0BC3E6B2-4ADA-4783-B59E-6D091A5E2849}"/>
              </a:ext>
            </a:extLst>
          </p:cNvPr>
          <p:cNvSpPr txBox="1"/>
          <p:nvPr/>
        </p:nvSpPr>
        <p:spPr>
          <a:xfrm>
            <a:off x="8145668" y="36850022"/>
            <a:ext cx="2037243"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Hiking trail</a:t>
            </a:r>
          </a:p>
        </p:txBody>
      </p:sp>
      <p:sp>
        <p:nvSpPr>
          <p:cNvPr id="77" name="ZoneTexte 76">
            <a:extLst>
              <a:ext uri="{FF2B5EF4-FFF2-40B4-BE49-F238E27FC236}">
                <a16:creationId xmlns:a16="http://schemas.microsoft.com/office/drawing/2014/main" id="{C6C1A7BF-685B-4FEC-A8EC-29C3347D94E5}"/>
              </a:ext>
            </a:extLst>
          </p:cNvPr>
          <p:cNvSpPr txBox="1"/>
          <p:nvPr/>
        </p:nvSpPr>
        <p:spPr>
          <a:xfrm>
            <a:off x="8127345" y="35929241"/>
            <a:ext cx="2037243"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mj-lt"/>
                <a:ea typeface="+mj-ea"/>
                <a:cs typeface="+mj-cs"/>
                <a:sym typeface="Arial"/>
              </a:rPr>
              <a:t>Forest access point</a:t>
            </a:r>
          </a:p>
        </p:txBody>
      </p:sp>
      <p:sp>
        <p:nvSpPr>
          <p:cNvPr id="78" name="ZoneTexte 77">
            <a:extLst>
              <a:ext uri="{FF2B5EF4-FFF2-40B4-BE49-F238E27FC236}">
                <a16:creationId xmlns:a16="http://schemas.microsoft.com/office/drawing/2014/main" id="{F6D657DD-3848-4FB7-9D41-2D1D6A76ED47}"/>
              </a:ext>
            </a:extLst>
          </p:cNvPr>
          <p:cNvSpPr txBox="1"/>
          <p:nvPr/>
        </p:nvSpPr>
        <p:spPr>
          <a:xfrm>
            <a:off x="8145668" y="36232699"/>
            <a:ext cx="2037243"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mj-lt"/>
                <a:ea typeface="+mj-ea"/>
                <a:cs typeface="+mj-cs"/>
                <a:sym typeface="Arial"/>
              </a:rPr>
              <a:t>Remarkable site  </a:t>
            </a:r>
          </a:p>
        </p:txBody>
      </p:sp>
      <p:sp>
        <p:nvSpPr>
          <p:cNvPr id="79" name="ZoneTexte 78">
            <a:extLst>
              <a:ext uri="{FF2B5EF4-FFF2-40B4-BE49-F238E27FC236}">
                <a16:creationId xmlns:a16="http://schemas.microsoft.com/office/drawing/2014/main" id="{E2841E27-9872-4263-A5C7-9ECB9A728274}"/>
              </a:ext>
            </a:extLst>
          </p:cNvPr>
          <p:cNvSpPr txBox="1"/>
          <p:nvPr/>
        </p:nvSpPr>
        <p:spPr>
          <a:xfrm>
            <a:off x="8127346" y="36520335"/>
            <a:ext cx="2037243"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Remarkable tree</a:t>
            </a:r>
          </a:p>
        </p:txBody>
      </p:sp>
      <p:sp>
        <p:nvSpPr>
          <p:cNvPr id="80" name="ZoneTexte 79">
            <a:extLst>
              <a:ext uri="{FF2B5EF4-FFF2-40B4-BE49-F238E27FC236}">
                <a16:creationId xmlns:a16="http://schemas.microsoft.com/office/drawing/2014/main" id="{0F029FFF-7E5B-4A0B-A1DF-476701230A7A}"/>
              </a:ext>
            </a:extLst>
          </p:cNvPr>
          <p:cNvSpPr txBox="1"/>
          <p:nvPr/>
        </p:nvSpPr>
        <p:spPr>
          <a:xfrm>
            <a:off x="8122559" y="35587027"/>
            <a:ext cx="2166011"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mj-lt"/>
                <a:ea typeface="+mj-ea"/>
                <a:cs typeface="+mj-cs"/>
                <a:sym typeface="Arial"/>
              </a:rPr>
              <a:t>Trail registered in the PDIPR</a:t>
            </a:r>
          </a:p>
        </p:txBody>
      </p:sp>
      <p:sp>
        <p:nvSpPr>
          <p:cNvPr id="81" name="ZoneTexte 80">
            <a:extLst>
              <a:ext uri="{FF2B5EF4-FFF2-40B4-BE49-F238E27FC236}">
                <a16:creationId xmlns:a16="http://schemas.microsoft.com/office/drawing/2014/main" id="{7ECDC505-46B3-4E6B-BDBD-6E184A95FF2B}"/>
              </a:ext>
            </a:extLst>
          </p:cNvPr>
          <p:cNvSpPr txBox="1"/>
          <p:nvPr/>
        </p:nvSpPr>
        <p:spPr>
          <a:xfrm>
            <a:off x="8602992" y="29127515"/>
            <a:ext cx="1519589"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mj-lt"/>
                <a:ea typeface="+mj-ea"/>
                <a:cs typeface="+mj-cs"/>
                <a:sym typeface="Arial"/>
              </a:rPr>
              <a:t>specific site  </a:t>
            </a:r>
          </a:p>
        </p:txBody>
      </p:sp>
      <p:sp>
        <p:nvSpPr>
          <p:cNvPr id="82" name="ZoneTexte 81">
            <a:extLst>
              <a:ext uri="{FF2B5EF4-FFF2-40B4-BE49-F238E27FC236}">
                <a16:creationId xmlns:a16="http://schemas.microsoft.com/office/drawing/2014/main" id="{5E6BB72F-D41F-42E9-9FE5-12E9993C5449}"/>
              </a:ext>
            </a:extLst>
          </p:cNvPr>
          <p:cNvSpPr txBox="1"/>
          <p:nvPr/>
        </p:nvSpPr>
        <p:spPr>
          <a:xfrm>
            <a:off x="8596946" y="29966755"/>
            <a:ext cx="1729724" cy="46166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mj-lt"/>
                <a:ea typeface="+mj-ea"/>
                <a:cs typeface="+mj-cs"/>
                <a:sym typeface="Arial"/>
              </a:rPr>
              <a:t>Beech Conservation Unit</a:t>
            </a:r>
          </a:p>
        </p:txBody>
      </p:sp>
      <p:sp>
        <p:nvSpPr>
          <p:cNvPr id="68" name="ZoneTexte 67">
            <a:extLst>
              <a:ext uri="{FF2B5EF4-FFF2-40B4-BE49-F238E27FC236}">
                <a16:creationId xmlns:a16="http://schemas.microsoft.com/office/drawing/2014/main" id="{B164A9C2-477C-4A5F-8497-799EBD3A8EA5}"/>
              </a:ext>
            </a:extLst>
          </p:cNvPr>
          <p:cNvSpPr txBox="1"/>
          <p:nvPr/>
        </p:nvSpPr>
        <p:spPr>
          <a:xfrm>
            <a:off x="8578596" y="29750979"/>
            <a:ext cx="647058" cy="276997"/>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mj-lt"/>
                <a:ea typeface="+mj-ea"/>
                <a:cs typeface="+mj-cs"/>
                <a:sym typeface="Arial"/>
              </a:rPr>
              <a:t>High</a:t>
            </a:r>
          </a:p>
        </p:txBody>
      </p:sp>
      <p:sp>
        <p:nvSpPr>
          <p:cNvPr id="83" name="ZoneTexte 82">
            <a:extLst>
              <a:ext uri="{FF2B5EF4-FFF2-40B4-BE49-F238E27FC236}">
                <a16:creationId xmlns:a16="http://schemas.microsoft.com/office/drawing/2014/main" id="{B7B6220B-4456-46FA-A121-7C0E4FA0B52A}"/>
              </a:ext>
            </a:extLst>
          </p:cNvPr>
          <p:cNvSpPr txBox="1"/>
          <p:nvPr/>
        </p:nvSpPr>
        <p:spPr>
          <a:xfrm>
            <a:off x="8587419" y="28136381"/>
            <a:ext cx="1607536" cy="46166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mj-lt"/>
                <a:ea typeface="+mj-ea"/>
                <a:cs typeface="+mj-cs"/>
                <a:sym typeface="Arial"/>
              </a:rPr>
              <a:t>Special area of conservation</a:t>
            </a:r>
          </a:p>
        </p:txBody>
      </p:sp>
      <p:sp>
        <p:nvSpPr>
          <p:cNvPr id="84" name="ZoneTexte 83">
            <a:extLst>
              <a:ext uri="{FF2B5EF4-FFF2-40B4-BE49-F238E27FC236}">
                <a16:creationId xmlns:a16="http://schemas.microsoft.com/office/drawing/2014/main" id="{05CF9CCF-2F10-48DA-A344-7374405290D0}"/>
              </a:ext>
            </a:extLst>
          </p:cNvPr>
          <p:cNvSpPr txBox="1"/>
          <p:nvPr/>
        </p:nvSpPr>
        <p:spPr>
          <a:xfrm>
            <a:off x="8606673" y="28606010"/>
            <a:ext cx="1519589" cy="46166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mj-lt"/>
                <a:ea typeface="+mj-ea"/>
                <a:cs typeface="+mj-cs"/>
                <a:sym typeface="Arial"/>
              </a:rPr>
              <a:t>Sensitive natural area (ENS)</a:t>
            </a:r>
          </a:p>
        </p:txBody>
      </p:sp>
      <p:sp>
        <p:nvSpPr>
          <p:cNvPr id="9" name="Rectangle 8">
            <a:extLst>
              <a:ext uri="{FF2B5EF4-FFF2-40B4-BE49-F238E27FC236}">
                <a16:creationId xmlns:a16="http://schemas.microsoft.com/office/drawing/2014/main" id="{A43CAA8C-4858-49E5-A85D-33C622DB24F0}"/>
              </a:ext>
            </a:extLst>
          </p:cNvPr>
          <p:cNvSpPr/>
          <p:nvPr/>
        </p:nvSpPr>
        <p:spPr>
          <a:xfrm>
            <a:off x="8255067" y="28096713"/>
            <a:ext cx="371675" cy="169073"/>
          </a:xfrm>
          <a:prstGeom prst="rect">
            <a:avLst/>
          </a:prstGeom>
          <a:solidFill>
            <a:schemeClr val="bg1"/>
          </a:solidFill>
          <a:ln w="25400" cap="flat">
            <a:solidFill>
              <a:schemeClr val="bg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8200" b="0" i="0" u="none" strike="noStrike" cap="none" spc="0" normalizeH="0" baseline="0">
              <a:ln>
                <a:noFill/>
              </a:ln>
              <a:solidFill>
                <a:srgbClr val="000000"/>
              </a:solidFill>
              <a:effectLst/>
              <a:uFillTx/>
              <a:latin typeface="+mj-lt"/>
              <a:ea typeface="+mj-ea"/>
              <a:cs typeface="+mj-cs"/>
              <a:sym typeface="Arial"/>
            </a:endParaRPr>
          </a:p>
        </p:txBody>
      </p:sp>
      <p:sp>
        <p:nvSpPr>
          <p:cNvPr id="86" name="Text Box 10">
            <a:extLst>
              <a:ext uri="{FF2B5EF4-FFF2-40B4-BE49-F238E27FC236}">
                <a16:creationId xmlns:a16="http://schemas.microsoft.com/office/drawing/2014/main" id="{3B37E5D4-EC22-427A-9805-E21865C16C7D}"/>
              </a:ext>
            </a:extLst>
          </p:cNvPr>
          <p:cNvSpPr txBox="1"/>
          <p:nvPr/>
        </p:nvSpPr>
        <p:spPr>
          <a:xfrm>
            <a:off x="20629436" y="28525024"/>
            <a:ext cx="8885699" cy="830997"/>
          </a:xfrm>
          <a:prstGeom prst="rect">
            <a:avLst/>
          </a:prstGeom>
          <a:solidFill>
            <a:schemeClr val="bg1"/>
          </a:solidFill>
          <a:ln w="12700">
            <a:solidFill>
              <a:schemeClr val="bg1"/>
            </a:solidFill>
            <a:miter lim="400000"/>
          </a:ln>
          <a:extLst>
            <a:ext uri="{C572A759-6A51-4108-AA02-DFA0A04FC94B}">
              <ma14:wrappingTextBoxFlag xmlns="" xmlns:ma14="http://schemas.microsoft.com/office/mac/drawingml/2011/main" val="1"/>
            </a:ext>
          </a:extLst>
        </p:spPr>
        <p:txBody>
          <a:bodyPr wrap="square" lIns="45719" rIns="45719">
            <a:spAutoFit/>
          </a:bodyPr>
          <a:lstStyle>
            <a:lvl1pPr defTabSz="4389437">
              <a:spcBef>
                <a:spcPts val="4900"/>
              </a:spcBef>
              <a:defRPr b="1"/>
            </a:lvl1pPr>
          </a:lstStyle>
          <a:p>
            <a:endParaRPr lang="en-US" sz="1050" b="0" dirty="0"/>
          </a:p>
          <a:p>
            <a:pPr>
              <a:spcBef>
                <a:spcPts val="0"/>
              </a:spcBef>
            </a:pPr>
            <a:r>
              <a:rPr lang="en-US" sz="3600" b="0" dirty="0"/>
              <a:t>Viability theory framework</a:t>
            </a:r>
          </a:p>
        </p:txBody>
      </p:sp>
      <p:sp>
        <p:nvSpPr>
          <p:cNvPr id="67" name="ZoneTexte 66">
            <a:extLst>
              <a:ext uri="{FF2B5EF4-FFF2-40B4-BE49-F238E27FC236}">
                <a16:creationId xmlns:a16="http://schemas.microsoft.com/office/drawing/2014/main" id="{06D26BC9-03D1-4A6B-BC56-FF849E8EE583}"/>
              </a:ext>
            </a:extLst>
          </p:cNvPr>
          <p:cNvSpPr txBox="1"/>
          <p:nvPr/>
        </p:nvSpPr>
        <p:spPr>
          <a:xfrm>
            <a:off x="28048981" y="28862294"/>
            <a:ext cx="2336386"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000000"/>
                </a:solidFill>
                <a:effectLst/>
                <a:uFillTx/>
                <a:latin typeface="+mj-lt"/>
                <a:ea typeface="+mj-ea"/>
                <a:cs typeface="+mj-cs"/>
                <a:sym typeface="Arial"/>
              </a:rPr>
              <a:t>[4.]</a:t>
            </a:r>
          </a:p>
        </p:txBody>
      </p:sp>
      <p:sp>
        <p:nvSpPr>
          <p:cNvPr id="87" name="Flèche : courbe vers la gauche 86">
            <a:extLst>
              <a:ext uri="{FF2B5EF4-FFF2-40B4-BE49-F238E27FC236}">
                <a16:creationId xmlns:a16="http://schemas.microsoft.com/office/drawing/2014/main" id="{66B26401-8D27-4B8E-ABD4-22B1BF377312}"/>
              </a:ext>
            </a:extLst>
          </p:cNvPr>
          <p:cNvSpPr/>
          <p:nvPr/>
        </p:nvSpPr>
        <p:spPr>
          <a:xfrm rot="17943316">
            <a:off x="20589528" y="20286858"/>
            <a:ext cx="1339386" cy="2363989"/>
          </a:xfrm>
          <a:prstGeom prst="curvedLeftArrow">
            <a:avLst>
              <a:gd name="adj1" fmla="val 25000"/>
              <a:gd name="adj2" fmla="val 80083"/>
              <a:gd name="adj3" fmla="val 48766"/>
            </a:avLst>
          </a:prstGeom>
          <a:solidFill>
            <a:srgbClr val="18823E">
              <a:alpha val="56078"/>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8200" b="0" i="0" u="none" strike="noStrike" cap="none" spc="0" normalizeH="0" baseline="0">
              <a:ln>
                <a:noFill/>
              </a:ln>
              <a:solidFill>
                <a:srgbClr val="000000"/>
              </a:solidFill>
              <a:effectLst/>
              <a:uFillTx/>
              <a:latin typeface="+mj-lt"/>
              <a:ea typeface="+mj-ea"/>
              <a:cs typeface="+mj-cs"/>
              <a:sym typeface="Arial"/>
            </a:endParaRPr>
          </a:p>
        </p:txBody>
      </p:sp>
    </p:spTree>
  </p:cSld>
  <p:clrMapOvr>
    <a:masterClrMapping/>
  </p:clrMapOvr>
  <p:transition spd="med"/>
</p:sld>
</file>

<file path=ppt/theme/theme1.xml><?xml version="1.0" encoding="utf-8"?>
<a:theme xmlns:a="http://schemas.openxmlformats.org/drawingml/2006/main" name="Default Design">
  <a:themeElements>
    <a:clrScheme name="Default Design">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Default Design">
      <a:majorFont>
        <a:latin typeface="Arial"/>
        <a:ea typeface="Arial"/>
        <a:cs typeface="Arial"/>
      </a:majorFont>
      <a:minorFont>
        <a:latin typeface="Helvetica"/>
        <a:ea typeface="Helvetica"/>
        <a:cs typeface="Helvetica"/>
      </a:minorFont>
    </a:fontScheme>
    <a:fmtScheme name="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Design">
  <a:themeElements>
    <a:clrScheme name="Default Design">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Default Design">
      <a:majorFont>
        <a:latin typeface="Arial"/>
        <a:ea typeface="Arial"/>
        <a:cs typeface="Arial"/>
      </a:majorFont>
      <a:minorFont>
        <a:latin typeface="Helvetica"/>
        <a:ea typeface="Helvetica"/>
        <a:cs typeface="Helvetica"/>
      </a:minorFont>
    </a:fontScheme>
    <a:fmtScheme name="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ctr" defTabSz="914400" rtl="0" fontAlgn="auto" latinLnBrk="0" hangingPunct="0">
          <a:lnSpc>
            <a:spcPct val="100000"/>
          </a:lnSpc>
          <a:spcBef>
            <a:spcPts val="0"/>
          </a:spcBef>
          <a:spcAft>
            <a:spcPts val="0"/>
          </a:spcAft>
          <a:buClrTx/>
          <a:buSzTx/>
          <a:buFontTx/>
          <a:buNone/>
          <a:tabLst/>
          <a:defRPr kumimoji="0" sz="82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Wisp</Template>
  <TotalTime>364</TotalTime>
  <Words>732</Words>
  <Application>Microsoft Office PowerPoint</Application>
  <PresentationFormat>Personnalisé</PresentationFormat>
  <Paragraphs>77</Paragraphs>
  <Slides>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Arial</vt:lpstr>
      <vt:lpstr>Helvetica</vt:lpstr>
      <vt:lpstr>Times New Roman</vt:lpstr>
      <vt:lpstr>Default Design</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Clementine De-Montgolfier</dc:creator>
  <cp:lastModifiedBy>Clémentine de MONTGOLFIER</cp:lastModifiedBy>
  <cp:revision>32</cp:revision>
  <dcterms:modified xsi:type="dcterms:W3CDTF">2025-05-27T13:45:11Z</dcterms:modified>
</cp:coreProperties>
</file>