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604" r:id="rId3"/>
    <p:sldId id="257" r:id="rId4"/>
    <p:sldId id="258" r:id="rId5"/>
    <p:sldId id="608" r:id="rId6"/>
    <p:sldId id="605" r:id="rId7"/>
    <p:sldId id="260" r:id="rId8"/>
    <p:sldId id="609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>
      <p:cViewPr>
        <p:scale>
          <a:sx n="63" d="100"/>
          <a:sy n="63" d="100"/>
        </p:scale>
        <p:origin x="61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A4B59-6FF7-42D5-9968-18DD0781AA5A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374F7-F3C1-4C9E-A7D0-9800C5FE1F6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46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643DAE6-29A7-4352-8E39-AF965D2C58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AA4FBF-3138-42B4-8751-DFA0D354DB30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1938434" name="Rectangle 2">
            <a:extLst>
              <a:ext uri="{FF2B5EF4-FFF2-40B4-BE49-F238E27FC236}">
                <a16:creationId xmlns:a16="http://schemas.microsoft.com/office/drawing/2014/main" id="{985D5D42-2DCC-480B-B11A-FE05903C6D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7713"/>
            <a:ext cx="6610350" cy="3719512"/>
          </a:xfrm>
          <a:ln/>
        </p:spPr>
      </p:sp>
      <p:sp>
        <p:nvSpPr>
          <p:cNvPr id="1938435" name="Rectangle 3">
            <a:extLst>
              <a:ext uri="{FF2B5EF4-FFF2-40B4-BE49-F238E27FC236}">
                <a16:creationId xmlns:a16="http://schemas.microsoft.com/office/drawing/2014/main" id="{F9050C5B-91B9-4566-8442-818A7C203A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1575" cy="4468813"/>
          </a:xfrm>
        </p:spPr>
        <p:txBody>
          <a:bodyPr/>
          <a:lstStyle/>
          <a:p>
            <a:endParaRPr lang="en-GB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539F1F-7B80-44E9-ADB6-A37583423D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17A9E6-4FC1-4C59-87C6-6BB348984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38514C-ADFF-43D0-A013-3F5BA7335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8AF1-4A09-4B01-893C-76C220A89747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4D5D24-9E1A-416B-8F41-88B69B3F0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DFE933-CB50-48E9-8C0A-120E89D3E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8FC0A-724D-4694-9DF0-50933D197B6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6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2FA785-3F68-48C4-B718-FE8594B6A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B62CE4-B2DD-4CBA-B812-9E2E0F3D3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2EB24B-60AA-46A7-94DB-113502B9B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8AF1-4A09-4B01-893C-76C220A89747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8974C8-3FF4-4549-B76E-A39834A3D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5E8295-46D2-4D19-8D10-3CA3AF238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8FC0A-724D-4694-9DF0-50933D197B6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0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F933AA-C8E8-4710-990C-3D477C7F3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FA503E-565C-4A0B-8D1A-3A0D511DF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2B5482-643A-4455-861C-9DA8CBEDA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8AF1-4A09-4B01-893C-76C220A89747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DC27DF-72C3-46A1-AEFA-0F72E81B8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87CF42-DFF7-48C9-922A-A859F6BA4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8FC0A-724D-4694-9DF0-50933D197B6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367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4F1291-1D88-4527-B39F-6EA07534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9CD7C2-9E50-4662-ACA6-92BC8BEC8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E3D8875-C85B-4E1B-AB10-3AB277275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89E4517-F6C4-4C20-BC24-92C101FD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8AF1-4A09-4B01-893C-76C220A89747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CBDAA62-BBD6-472D-ACF0-994AB07CE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A34470-B463-48E3-8A27-366C901CA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8FC0A-724D-4694-9DF0-50933D197B6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90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5629F2-015A-4B02-96BC-A3EEF44A7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F7C155-D850-4594-AF4B-273D72096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B28CD6D-0F75-4DDC-AB49-542761F22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71A029E-7696-4AAF-9AF9-627707ED8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007A669-B66A-4E04-B0E9-A84956D9C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271D099-363D-48EC-91E1-3F3CE6752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8AF1-4A09-4B01-893C-76C220A89747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D414EB4-26EA-4E03-A06B-9798BAB2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F6A3715-92D3-48AD-A59A-6D4BADB24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8FC0A-724D-4694-9DF0-50933D197B6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59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F22B3D-8982-4974-B637-5E9B9D019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A7E3D4F-309C-457F-BBBA-6AD03BCF6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8AF1-4A09-4B01-893C-76C220A89747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402BA5A-E49A-4AA3-9881-04F4129B1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0688FB4-7B3A-4531-99C1-503839250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8FC0A-724D-4694-9DF0-50933D197B6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9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B7E00B7-72D8-4C7A-9FC2-CAF741AFE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8AF1-4A09-4B01-893C-76C220A89747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EA87FC5-712B-448A-B861-522FBAB74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DC35D4-BC5E-41EC-A7C4-36754F187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8FC0A-724D-4694-9DF0-50933D197B6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3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A2A30B-F636-4C44-92E4-5B99CD66E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8198C2-DED0-4D4D-B8F4-3F7BE5278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0768FD-614F-498A-93B8-2B8443698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851AAB-87A3-465C-9940-160774482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8AF1-4A09-4B01-893C-76C220A89747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DA4DE9D-2053-419C-BE11-6E93B993B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89DAD17-7211-49B5-A321-C2281283F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8FC0A-724D-4694-9DF0-50933D197B6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971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87184A-A018-43BE-B36D-9A76EEB9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1519859-AB2B-4B34-9DDB-5B5031FD53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75E7919-CA54-424B-9E94-718DDDDDF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D762A93-3166-4158-AA5A-F9DABAD9A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8AF1-4A09-4B01-893C-76C220A89747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06C7FC8-85E1-42B4-88C3-18112BA81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AE36B0-B288-4239-B39B-4704D5877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8FC0A-724D-4694-9DF0-50933D197B6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867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3B0D1A-0834-4D07-8EB5-8DDA6A381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6E162A3-6ECF-4766-B137-EA5B3A1CF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BD2E7A-12A1-448D-8F16-E8D94AAA0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8AF1-4A09-4B01-893C-76C220A89747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E1F165-98E0-4A54-8791-C4B89689D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419141-36E4-483C-A155-FDF3EDB18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8FC0A-724D-4694-9DF0-50933D197B6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482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1C6DB59-A93D-45C6-ACEA-590F622FC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FDA7AAA-2BB7-4B6C-886A-F39E16899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2985E4-4BA8-4D26-9921-715817BD0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8AF1-4A09-4B01-893C-76C220A89747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68D052-8936-47AD-A941-8C0DB7AB9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761FB2-74D4-4B2A-B69C-44EF73D1F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8FC0A-724D-4694-9DF0-50933D197B6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1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211CE-E592-46A9-8399-C8E5177ED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85800"/>
            <a:ext cx="8111067" cy="8382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D1BB745-DC8D-4819-9A7E-56315CEBA68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52401" y="1373188"/>
            <a:ext cx="5763684" cy="47228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5302941-C492-41B2-830F-B4FF2482F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19284" y="1373188"/>
            <a:ext cx="5763683" cy="47228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709A79-4CCC-48C2-A09B-F98FE5C34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fr-FR" altLang="fr-FR"/>
              <a:t>20/10/05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AD33C2-DEAA-4B64-B43D-8F525F8440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550400" y="762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88781A0B-4BE6-4CBE-A462-4FEA287960C5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20150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EB2D268-CA0B-433B-A948-DDA91E612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4E2DC5-9949-4E62-9E1C-5C6671FB7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48F8EE-2FB0-49FF-AC61-FDA05C6AF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D8AF1-4A09-4B01-893C-76C220A89747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F71988-853C-4F13-9869-646702DC0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2D7FB9-93B3-45F7-AE91-87AE17EA6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8FC0A-724D-4694-9DF0-50933D197B6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03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763C82-F086-4586-A065-6C05A16FEE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Fonction</a:t>
            </a:r>
            <a:r>
              <a:rPr lang="en-US" dirty="0"/>
              <a:t> et </a:t>
            </a:r>
            <a:r>
              <a:rPr lang="en-US" dirty="0" err="1"/>
              <a:t>enjeux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forêt</a:t>
            </a:r>
            <a:r>
              <a:rPr lang="en-US" dirty="0"/>
              <a:t> de Retz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30791CC-B1FB-4068-8EDF-E2A3197C1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Spatialisation</a:t>
            </a:r>
            <a:r>
              <a:rPr lang="en-US" dirty="0"/>
              <a:t>, </a:t>
            </a:r>
            <a:r>
              <a:rPr lang="en-US" dirty="0" err="1"/>
              <a:t>indicateurs</a:t>
            </a:r>
            <a:r>
              <a:rPr lang="en-US" dirty="0"/>
              <a:t>, </a:t>
            </a:r>
            <a:r>
              <a:rPr lang="en-US" dirty="0" err="1"/>
              <a:t>contraintes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924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73B5BB6-F81F-4F3E-BA4E-807C168A8F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0D784E-1105-4943-8770-2A3848DF9791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1937411" name="Rectangle 3">
            <a:extLst>
              <a:ext uri="{FF2B5EF4-FFF2-40B4-BE49-F238E27FC236}">
                <a16:creationId xmlns:a16="http://schemas.microsoft.com/office/drawing/2014/main" id="{05CEA1F4-E287-4F39-99E5-7F755254F3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6212" y="832561"/>
            <a:ext cx="9145588" cy="556960"/>
          </a:xfrm>
        </p:spPr>
        <p:txBody>
          <a:bodyPr>
            <a:normAutofit fontScale="90000"/>
          </a:bodyPr>
          <a:lstStyle/>
          <a:p>
            <a:pPr>
              <a:lnSpc>
                <a:spcPct val="117000"/>
              </a:lnSpc>
            </a:pPr>
            <a:r>
              <a:rPr lang="fr-FR" altLang="fr-FR" b="0" u="sng" dirty="0">
                <a:solidFill>
                  <a:srgbClr val="008000"/>
                </a:solidFill>
              </a:rPr>
              <a:t>Les 3 fonctions principales  de RETZ:</a:t>
            </a:r>
            <a:br>
              <a:rPr lang="fr-FR" altLang="fr-FR" b="0" u="sng" dirty="0">
                <a:solidFill>
                  <a:srgbClr val="008000"/>
                </a:solidFill>
              </a:rPr>
            </a:br>
            <a:endParaRPr lang="fr-FR" altLang="fr-FR" b="0" u="sng" dirty="0">
              <a:solidFill>
                <a:srgbClr val="008000"/>
              </a:solidFill>
            </a:endParaRPr>
          </a:p>
        </p:txBody>
      </p:sp>
      <p:sp>
        <p:nvSpPr>
          <p:cNvPr id="1937412" name="Rectangle 4">
            <a:extLst>
              <a:ext uri="{FF2B5EF4-FFF2-40B4-BE49-F238E27FC236}">
                <a16:creationId xmlns:a16="http://schemas.microsoft.com/office/drawing/2014/main" id="{DD733B71-EFA6-4E2C-9F58-754D4AB7216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04825" y="1471740"/>
            <a:ext cx="9145588" cy="1478724"/>
          </a:xfrm>
          <a:noFill/>
          <a:ln/>
        </p:spPr>
        <p:txBody>
          <a:bodyPr/>
          <a:lstStyle/>
          <a:p>
            <a:r>
              <a:rPr lang="fr-FR" altLang="fr-FR" sz="2400" dirty="0">
                <a:solidFill>
                  <a:srgbClr val="008000"/>
                </a:solidFill>
              </a:rPr>
              <a:t>- Production ligneuse </a:t>
            </a:r>
            <a:r>
              <a:rPr lang="fr-FR" altLang="fr-FR" sz="2000" b="1" dirty="0">
                <a:solidFill>
                  <a:srgbClr val="008000"/>
                </a:solidFill>
              </a:rPr>
              <a:t>(l’une des plus productives de plaine)</a:t>
            </a:r>
            <a:r>
              <a:rPr lang="fr-FR" altLang="fr-FR" sz="2400" dirty="0">
                <a:solidFill>
                  <a:srgbClr val="008000"/>
                </a:solidFill>
              </a:rPr>
              <a:t>	   </a:t>
            </a:r>
          </a:p>
          <a:p>
            <a:r>
              <a:rPr lang="fr-FR" altLang="fr-FR" sz="2400" dirty="0">
                <a:solidFill>
                  <a:srgbClr val="008000"/>
                </a:solidFill>
              </a:rPr>
              <a:t>- Écologique </a:t>
            </a:r>
            <a:r>
              <a:rPr lang="fr-FR" altLang="fr-FR" sz="2000" b="1" dirty="0">
                <a:solidFill>
                  <a:srgbClr val="008000"/>
                </a:solidFill>
              </a:rPr>
              <a:t>(biodiversité, fonctionnalité écologique)</a:t>
            </a:r>
          </a:p>
          <a:p>
            <a:pPr>
              <a:buFontTx/>
              <a:buChar char="-"/>
            </a:pPr>
            <a:r>
              <a:rPr lang="fr-FR" altLang="fr-FR" sz="2400" dirty="0">
                <a:solidFill>
                  <a:srgbClr val="008000"/>
                </a:solidFill>
              </a:rPr>
              <a:t> Sociale </a:t>
            </a:r>
            <a:r>
              <a:rPr lang="fr-FR" altLang="fr-FR" sz="2000" b="1" dirty="0">
                <a:solidFill>
                  <a:srgbClr val="008000"/>
                </a:solidFill>
              </a:rPr>
              <a:t>(accueil du public, paysage, ressource en eau potable)</a:t>
            </a:r>
            <a:r>
              <a:rPr lang="fr-FR" altLang="fr-FR" sz="2400" b="1" dirty="0">
                <a:solidFill>
                  <a:srgbClr val="008000"/>
                </a:solidFill>
              </a:rPr>
              <a:t> </a:t>
            </a:r>
          </a:p>
        </p:txBody>
      </p:sp>
      <p:sp>
        <p:nvSpPr>
          <p:cNvPr id="1937413" name="Oval 5">
            <a:extLst>
              <a:ext uri="{FF2B5EF4-FFF2-40B4-BE49-F238E27FC236}">
                <a16:creationId xmlns:a16="http://schemas.microsoft.com/office/drawing/2014/main" id="{820BDD1A-A383-43D0-AA96-EA667969C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645825"/>
            <a:ext cx="259766" cy="519351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1C1C1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37414" name="Rectangle 6">
            <a:hlinkClick r:id="" action="ppaction://noaction"/>
            <a:extLst>
              <a:ext uri="{FF2B5EF4-FFF2-40B4-BE49-F238E27FC236}">
                <a16:creationId xmlns:a16="http://schemas.microsoft.com/office/drawing/2014/main" id="{5A447962-D384-4CD9-8E3F-0321D986D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1" y="82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1C1C1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37415" name="Rectangle 7">
            <a:extLst>
              <a:ext uri="{FF2B5EF4-FFF2-40B4-BE49-F238E27FC236}">
                <a16:creationId xmlns:a16="http://schemas.microsoft.com/office/drawing/2014/main" id="{FBECBD56-ED61-4C3C-9BEA-A4256E9A2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1060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1C1C1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1937759" name="Picture 351">
            <a:extLst>
              <a:ext uri="{FF2B5EF4-FFF2-40B4-BE49-F238E27FC236}">
                <a16:creationId xmlns:a16="http://schemas.microsoft.com/office/drawing/2014/main" id="{376EFC11-1AC8-4687-A998-FD62CC8036F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1" y="3429000"/>
            <a:ext cx="8772525" cy="3140075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DD8146-1378-48BA-8A81-04D70317AA98}"/>
              </a:ext>
            </a:extLst>
          </p:cNvPr>
          <p:cNvSpPr/>
          <p:nvPr/>
        </p:nvSpPr>
        <p:spPr>
          <a:xfrm>
            <a:off x="0" y="0"/>
            <a:ext cx="4054046" cy="6810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de production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9EF78D-E6BE-4978-A117-F624FF43C0CE}"/>
              </a:ext>
            </a:extLst>
          </p:cNvPr>
          <p:cNvSpPr/>
          <p:nvPr/>
        </p:nvSpPr>
        <p:spPr>
          <a:xfrm>
            <a:off x="4054046" y="-4"/>
            <a:ext cx="4083910" cy="6810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</a:t>
            </a:r>
            <a:r>
              <a:rPr lang="en-US" dirty="0" err="1"/>
              <a:t>écologique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E5CB04-C2AF-4388-B343-B633738B68F0}"/>
              </a:ext>
            </a:extLst>
          </p:cNvPr>
          <p:cNvSpPr/>
          <p:nvPr/>
        </p:nvSpPr>
        <p:spPr>
          <a:xfrm>
            <a:off x="8137955" y="-3"/>
            <a:ext cx="4054045" cy="6810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</a:t>
            </a:r>
            <a:r>
              <a:rPr lang="en-US" dirty="0" err="1"/>
              <a:t>sociale</a:t>
            </a:r>
            <a:endParaRPr lang="en-US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52885FF-E0B8-4722-86A6-6F6E3AB7A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3" y="826009"/>
            <a:ext cx="5558209" cy="3697224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BC3AAF87-DDC6-4B61-A8C9-B9D5A38D6FAB}"/>
              </a:ext>
            </a:extLst>
          </p:cNvPr>
          <p:cNvGrpSpPr/>
          <p:nvPr/>
        </p:nvGrpSpPr>
        <p:grpSpPr>
          <a:xfrm>
            <a:off x="204142" y="4602479"/>
            <a:ext cx="5355410" cy="1908049"/>
            <a:chOff x="3425827" y="6088063"/>
            <a:chExt cx="7332662" cy="628736"/>
          </a:xfrm>
        </p:grpSpPr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4634BB84-FE9B-498A-B439-01E35CA2CF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16750" y="6153631"/>
              <a:ext cx="512762" cy="0"/>
            </a:xfrm>
            <a:prstGeom prst="line">
              <a:avLst/>
            </a:prstGeom>
            <a:noFill/>
            <a:ln w="444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endParaRPr lang="en-US" dirty="0"/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EE7D7A53-0215-494A-9A74-397C25079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9214" y="6088063"/>
              <a:ext cx="3089275" cy="36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fr-FR"/>
                <a:t>Récolte à venir prévue</a:t>
              </a: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F6EB069E-57DA-4E91-94E3-10C2943AD3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5827" y="6169475"/>
              <a:ext cx="512762" cy="0"/>
            </a:xfrm>
            <a:prstGeom prst="line">
              <a:avLst/>
            </a:prstGeom>
            <a:noFill/>
            <a:ln w="4445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endParaRPr lang="en-US"/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99114F56-2A15-4D41-9816-31E6C7ACB4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8589" y="6109721"/>
              <a:ext cx="3089275" cy="36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fr-FR" dirty="0">
                  <a:solidFill>
                    <a:schemeClr val="accent1"/>
                  </a:solidFill>
                </a:rPr>
                <a:t>Récolte moyenne sur 15 ans</a:t>
              </a: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40DB5C75-8373-4B6A-A1A7-FA0DD6A3C5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5827" y="6407116"/>
              <a:ext cx="512762" cy="0"/>
            </a:xfrm>
            <a:prstGeom prst="line">
              <a:avLst/>
            </a:prstGeom>
            <a:noFill/>
            <a:ln w="25400">
              <a:solidFill>
                <a:srgbClr val="800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endParaRPr lang="en-US"/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4F1DC5A8-820E-4FD4-89B6-13488F08F7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8589" y="6346825"/>
              <a:ext cx="3089275" cy="36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fr-FR" dirty="0">
                  <a:solidFill>
                    <a:srgbClr val="530B5F"/>
                  </a:solidFill>
                </a:rPr>
                <a:t>Sur les 5 dernières années</a:t>
              </a:r>
            </a:p>
          </p:txBody>
        </p:sp>
      </p:grpSp>
      <p:pic>
        <p:nvPicPr>
          <p:cNvPr id="16" name="Image 15">
            <a:extLst>
              <a:ext uri="{FF2B5EF4-FFF2-40B4-BE49-F238E27FC236}">
                <a16:creationId xmlns:a16="http://schemas.microsoft.com/office/drawing/2014/main" id="{43FB5A25-B65B-4365-818A-CC605A501E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7" t="3666" r="2556" b="2075"/>
          <a:stretch/>
        </p:blipFill>
        <p:spPr>
          <a:xfrm>
            <a:off x="5721070" y="2298882"/>
            <a:ext cx="6470930" cy="451035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16B7D4DB-9986-488D-AF9D-9BCF5F537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2737" y="883920"/>
            <a:ext cx="2178355" cy="163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02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AA157AD8-DA15-4279-B446-6A5BD364EB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64" t="4028" r="3764" b="3778"/>
          <a:stretch/>
        </p:blipFill>
        <p:spPr>
          <a:xfrm>
            <a:off x="7614985" y="3938016"/>
            <a:ext cx="4525378" cy="291998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808E739-B9B0-485F-AAC1-88181ABDF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8571" y="638361"/>
            <a:ext cx="8129195" cy="575065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EDD8146-1378-48BA-8A81-04D70317AA98}"/>
              </a:ext>
            </a:extLst>
          </p:cNvPr>
          <p:cNvSpPr/>
          <p:nvPr/>
        </p:nvSpPr>
        <p:spPr>
          <a:xfrm>
            <a:off x="0" y="0"/>
            <a:ext cx="4054046" cy="6810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de production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9EF78D-E6BE-4978-A117-F624FF43C0CE}"/>
              </a:ext>
            </a:extLst>
          </p:cNvPr>
          <p:cNvSpPr/>
          <p:nvPr/>
        </p:nvSpPr>
        <p:spPr>
          <a:xfrm>
            <a:off x="4054046" y="-4"/>
            <a:ext cx="4083910" cy="6810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</a:t>
            </a:r>
            <a:r>
              <a:rPr lang="en-US" dirty="0" err="1"/>
              <a:t>écologique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E5CB04-C2AF-4388-B343-B633738B68F0}"/>
              </a:ext>
            </a:extLst>
          </p:cNvPr>
          <p:cNvSpPr/>
          <p:nvPr/>
        </p:nvSpPr>
        <p:spPr>
          <a:xfrm>
            <a:off x="8137955" y="-3"/>
            <a:ext cx="4054045" cy="6810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</a:t>
            </a:r>
            <a:r>
              <a:rPr lang="en-US" dirty="0" err="1"/>
              <a:t>sociale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157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DD8146-1378-48BA-8A81-04D70317AA98}"/>
              </a:ext>
            </a:extLst>
          </p:cNvPr>
          <p:cNvSpPr/>
          <p:nvPr/>
        </p:nvSpPr>
        <p:spPr>
          <a:xfrm>
            <a:off x="0" y="0"/>
            <a:ext cx="4054046" cy="6810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de production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9EF78D-E6BE-4978-A117-F624FF43C0CE}"/>
              </a:ext>
            </a:extLst>
          </p:cNvPr>
          <p:cNvSpPr/>
          <p:nvPr/>
        </p:nvSpPr>
        <p:spPr>
          <a:xfrm>
            <a:off x="4054046" y="-4"/>
            <a:ext cx="4083910" cy="6810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</a:t>
            </a:r>
            <a:r>
              <a:rPr lang="en-US" dirty="0" err="1"/>
              <a:t>écologique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E5CB04-C2AF-4388-B343-B633738B68F0}"/>
              </a:ext>
            </a:extLst>
          </p:cNvPr>
          <p:cNvSpPr/>
          <p:nvPr/>
        </p:nvSpPr>
        <p:spPr>
          <a:xfrm>
            <a:off x="8137955" y="-3"/>
            <a:ext cx="4054045" cy="6810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</a:t>
            </a:r>
            <a:r>
              <a:rPr lang="en-US" dirty="0" err="1"/>
              <a:t>sociale</a:t>
            </a:r>
            <a:endParaRPr 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A8A128F-8820-4408-B788-61CD67148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533" y="801020"/>
            <a:ext cx="5426318" cy="5941164"/>
          </a:xfrm>
          <a:prstGeom prst="rect">
            <a:avLst/>
          </a:prstGeom>
        </p:spPr>
      </p:pic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29292F6A-C2CA-466E-A653-0EF376968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 err="1"/>
              <a:t>Diversité</a:t>
            </a:r>
            <a:r>
              <a:rPr lang="en-US" dirty="0"/>
              <a:t> de </a:t>
            </a:r>
            <a:r>
              <a:rPr lang="en-US" dirty="0" err="1"/>
              <a:t>groupe</a:t>
            </a:r>
            <a:r>
              <a:rPr lang="en-US" dirty="0"/>
              <a:t> </a:t>
            </a:r>
            <a:r>
              <a:rPr lang="en-US" dirty="0" err="1"/>
              <a:t>taxonomique</a:t>
            </a:r>
            <a:endParaRPr lang="en-US" dirty="0"/>
          </a:p>
          <a:p>
            <a:r>
              <a:rPr lang="en-US" dirty="0"/>
              <a:t>Habitats plus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moins</a:t>
            </a:r>
            <a:r>
              <a:rPr lang="en-US" dirty="0"/>
              <a:t> bien determines</a:t>
            </a:r>
          </a:p>
          <a:p>
            <a:r>
              <a:rPr lang="en-US" dirty="0" err="1"/>
              <a:t>Fortement</a:t>
            </a:r>
            <a:r>
              <a:rPr lang="en-US" dirty="0"/>
              <a:t> zone (</a:t>
            </a:r>
            <a:r>
              <a:rPr lang="en-US" dirty="0" err="1"/>
              <a:t>biais</a:t>
            </a:r>
            <a:r>
              <a:rPr lang="en-US" dirty="0"/>
              <a:t> zone de conservation </a:t>
            </a:r>
            <a:r>
              <a:rPr lang="en-US" dirty="0" err="1"/>
              <a:t>mais</a:t>
            </a:r>
            <a:r>
              <a:rPr lang="en-US" dirty="0"/>
              <a:t> pas que)</a:t>
            </a:r>
          </a:p>
        </p:txBody>
      </p:sp>
    </p:spTree>
    <p:extLst>
      <p:ext uri="{BB962C8B-B14F-4D97-AF65-F5344CB8AC3E}">
        <p14:creationId xmlns:p14="http://schemas.microsoft.com/office/powerpoint/2010/main" val="2373156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DD8146-1378-48BA-8A81-04D70317AA98}"/>
              </a:ext>
            </a:extLst>
          </p:cNvPr>
          <p:cNvSpPr/>
          <p:nvPr/>
        </p:nvSpPr>
        <p:spPr>
          <a:xfrm>
            <a:off x="0" y="0"/>
            <a:ext cx="4054046" cy="6810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de production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9EF78D-E6BE-4978-A117-F624FF43C0CE}"/>
              </a:ext>
            </a:extLst>
          </p:cNvPr>
          <p:cNvSpPr/>
          <p:nvPr/>
        </p:nvSpPr>
        <p:spPr>
          <a:xfrm>
            <a:off x="4054046" y="-4"/>
            <a:ext cx="4083910" cy="6810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</a:t>
            </a:r>
            <a:r>
              <a:rPr lang="en-US" dirty="0" err="1"/>
              <a:t>écologique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E5CB04-C2AF-4388-B343-B633738B68F0}"/>
              </a:ext>
            </a:extLst>
          </p:cNvPr>
          <p:cNvSpPr/>
          <p:nvPr/>
        </p:nvSpPr>
        <p:spPr>
          <a:xfrm>
            <a:off x="8137955" y="-3"/>
            <a:ext cx="4054045" cy="6810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</a:t>
            </a:r>
            <a:r>
              <a:rPr lang="en-US" dirty="0" err="1"/>
              <a:t>sociale</a:t>
            </a:r>
            <a:endParaRPr 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D75D0C5-93C6-4E58-B1C6-E736BB45F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334" y="749370"/>
            <a:ext cx="4054046" cy="6021544"/>
          </a:xfrm>
          <a:prstGeom prst="rect">
            <a:avLst/>
          </a:prstGeom>
        </p:spPr>
      </p:pic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6499CB1B-2059-4699-8727-84D25DF0C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2" y="1111523"/>
            <a:ext cx="7121434" cy="4351338"/>
          </a:xfrm>
        </p:spPr>
        <p:txBody>
          <a:bodyPr/>
          <a:lstStyle/>
          <a:p>
            <a:r>
              <a:rPr lang="en-US" b="1" dirty="0" err="1"/>
              <a:t>Coléoptères</a:t>
            </a:r>
            <a:r>
              <a:rPr lang="en-US" b="1" dirty="0"/>
              <a:t> </a:t>
            </a:r>
            <a:r>
              <a:rPr lang="en-US" b="1" dirty="0" err="1"/>
              <a:t>saproxylique</a:t>
            </a:r>
            <a:r>
              <a:rPr lang="en-US" b="1" dirty="0"/>
              <a:t> </a:t>
            </a:r>
            <a:r>
              <a:rPr lang="en-US" dirty="0" err="1"/>
              <a:t>en</a:t>
            </a:r>
            <a:r>
              <a:rPr lang="en-US" dirty="0"/>
              <a:t> RBI</a:t>
            </a:r>
          </a:p>
          <a:p>
            <a:r>
              <a:rPr lang="en-US" dirty="0"/>
              <a:t>104 ha </a:t>
            </a:r>
            <a:r>
              <a:rPr lang="en-US" dirty="0" err="1"/>
              <a:t>Bois</a:t>
            </a:r>
            <a:r>
              <a:rPr lang="en-US" dirty="0"/>
              <a:t> </a:t>
            </a:r>
            <a:r>
              <a:rPr lang="en-US" dirty="0" err="1"/>
              <a:t>Hariz</a:t>
            </a:r>
            <a:r>
              <a:rPr lang="en-US" dirty="0"/>
              <a:t> et </a:t>
            </a:r>
            <a:r>
              <a:rPr lang="en-US" dirty="0" err="1"/>
              <a:t>Hautwison</a:t>
            </a:r>
            <a:endParaRPr lang="en-US" dirty="0"/>
          </a:p>
          <a:p>
            <a:r>
              <a:rPr lang="en-US" dirty="0" err="1"/>
              <a:t>Préférence</a:t>
            </a:r>
            <a:r>
              <a:rPr lang="en-US" dirty="0"/>
              <a:t> pour les </a:t>
            </a:r>
            <a:r>
              <a:rPr lang="en-US" dirty="0" err="1"/>
              <a:t>gros</a:t>
            </a:r>
            <a:r>
              <a:rPr lang="en-US" dirty="0"/>
              <a:t> diameter et le </a:t>
            </a:r>
            <a:r>
              <a:rPr lang="en-US" dirty="0" err="1"/>
              <a:t>bois</a:t>
            </a:r>
            <a:r>
              <a:rPr lang="en-US" dirty="0"/>
              <a:t> </a:t>
            </a:r>
            <a:r>
              <a:rPr lang="en-US" dirty="0" err="1"/>
              <a:t>carié</a:t>
            </a:r>
            <a:endParaRPr lang="en-US" dirty="0"/>
          </a:p>
          <a:p>
            <a:r>
              <a:rPr lang="en-US" b="1" dirty="0" err="1"/>
              <a:t>Bryoflore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zone Natura </a:t>
            </a:r>
            <a:r>
              <a:rPr lang="en-US" dirty="0"/>
              <a:t>2000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03C5C31F-CDF6-4361-B73F-9DE623C64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02" y="3750726"/>
            <a:ext cx="4094303" cy="291008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018DB699-8A47-45EE-B9FC-2B3CA0016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233" y="4803181"/>
            <a:ext cx="2514951" cy="1857634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C2CFE3BF-3C88-4177-B80D-820B5D3FF4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009" y="990670"/>
            <a:ext cx="1497175" cy="95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11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5A3C9A5E-72EB-43EA-94C2-AECB43161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944" y="3094047"/>
            <a:ext cx="5246651" cy="37123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EDD8146-1378-48BA-8A81-04D70317AA98}"/>
              </a:ext>
            </a:extLst>
          </p:cNvPr>
          <p:cNvSpPr/>
          <p:nvPr/>
        </p:nvSpPr>
        <p:spPr>
          <a:xfrm>
            <a:off x="0" y="0"/>
            <a:ext cx="4054046" cy="6810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de production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9EF78D-E6BE-4978-A117-F624FF43C0CE}"/>
              </a:ext>
            </a:extLst>
          </p:cNvPr>
          <p:cNvSpPr/>
          <p:nvPr/>
        </p:nvSpPr>
        <p:spPr>
          <a:xfrm>
            <a:off x="4054046" y="-4"/>
            <a:ext cx="4083910" cy="6810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</a:t>
            </a:r>
            <a:r>
              <a:rPr lang="en-US" dirty="0" err="1"/>
              <a:t>écologique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E5CB04-C2AF-4388-B343-B633738B68F0}"/>
              </a:ext>
            </a:extLst>
          </p:cNvPr>
          <p:cNvSpPr/>
          <p:nvPr/>
        </p:nvSpPr>
        <p:spPr>
          <a:xfrm>
            <a:off x="8137955" y="-3"/>
            <a:ext cx="4054045" cy="6810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</a:t>
            </a:r>
            <a:r>
              <a:rPr lang="en-US" dirty="0" err="1"/>
              <a:t>sociale</a:t>
            </a:r>
            <a:endParaRPr 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371C347-6EC2-4A85-9DAA-E8DB2CCBE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7844"/>
            <a:ext cx="7918714" cy="56024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26827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DD8146-1378-48BA-8A81-04D70317AA98}"/>
              </a:ext>
            </a:extLst>
          </p:cNvPr>
          <p:cNvSpPr/>
          <p:nvPr/>
        </p:nvSpPr>
        <p:spPr>
          <a:xfrm>
            <a:off x="0" y="0"/>
            <a:ext cx="4054046" cy="6810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de production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9EF78D-E6BE-4978-A117-F624FF43C0CE}"/>
              </a:ext>
            </a:extLst>
          </p:cNvPr>
          <p:cNvSpPr/>
          <p:nvPr/>
        </p:nvSpPr>
        <p:spPr>
          <a:xfrm>
            <a:off x="4054046" y="-4"/>
            <a:ext cx="4083910" cy="6810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</a:t>
            </a:r>
            <a:r>
              <a:rPr lang="en-US" dirty="0" err="1"/>
              <a:t>écologique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E5CB04-C2AF-4388-B343-B633738B68F0}"/>
              </a:ext>
            </a:extLst>
          </p:cNvPr>
          <p:cNvSpPr/>
          <p:nvPr/>
        </p:nvSpPr>
        <p:spPr>
          <a:xfrm>
            <a:off x="8137955" y="-3"/>
            <a:ext cx="4054045" cy="6810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</a:t>
            </a:r>
            <a:r>
              <a:rPr lang="en-US" dirty="0" err="1"/>
              <a:t>sociale</a:t>
            </a:r>
            <a:endParaRPr lang="en-US" dirty="0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7A33E023-106E-47BD-BA0D-FC5EC463C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344" y="1512358"/>
            <a:ext cx="10515600" cy="4351338"/>
          </a:xfrm>
        </p:spPr>
        <p:txBody>
          <a:bodyPr/>
          <a:lstStyle/>
          <a:p>
            <a:r>
              <a:rPr lang="en-US" dirty="0" err="1"/>
              <a:t>Enjeux</a:t>
            </a:r>
            <a:r>
              <a:rPr lang="en-US" dirty="0"/>
              <a:t> </a:t>
            </a:r>
            <a:r>
              <a:rPr lang="en-US" dirty="0" err="1"/>
              <a:t>paysage</a:t>
            </a:r>
            <a:r>
              <a:rPr lang="en-US" dirty="0"/>
              <a:t> </a:t>
            </a:r>
            <a:r>
              <a:rPr lang="en-US" dirty="0" err="1"/>
              <a:t>très</a:t>
            </a:r>
            <a:r>
              <a:rPr lang="en-US" dirty="0"/>
              <a:t> </a:t>
            </a:r>
            <a:r>
              <a:rPr lang="en-US" dirty="0" err="1"/>
              <a:t>localisés</a:t>
            </a:r>
            <a:endParaRPr lang="en-US" dirty="0"/>
          </a:p>
          <a:p>
            <a:r>
              <a:rPr lang="en-US" dirty="0" err="1"/>
              <a:t>Bois</a:t>
            </a:r>
            <a:r>
              <a:rPr lang="en-US" dirty="0"/>
              <a:t> </a:t>
            </a:r>
            <a:r>
              <a:rPr lang="en-US" dirty="0" err="1"/>
              <a:t>classé</a:t>
            </a:r>
            <a:r>
              <a:rPr lang="en-US" dirty="0"/>
              <a:t> ILS ?</a:t>
            </a:r>
          </a:p>
          <a:p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984EC4E-0B0C-4638-AFAA-7621DBEC4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682" y="681033"/>
            <a:ext cx="4124901" cy="588727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7F32EF9-584B-4F7B-B665-25945C76F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4" y="3803523"/>
            <a:ext cx="7171950" cy="242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6841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166</Words>
  <Application>Microsoft Office PowerPoint</Application>
  <PresentationFormat>Grand écran</PresentationFormat>
  <Paragraphs>38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Thème Office</vt:lpstr>
      <vt:lpstr>Fonction et enjeux en forêt de Retz</vt:lpstr>
      <vt:lpstr>Les 3 fonctions principales  de RETZ: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Clémentine de MONTGOLFIER</dc:creator>
  <cp:lastModifiedBy>Clémentine de MONTGOLFIER</cp:lastModifiedBy>
  <cp:revision>12</cp:revision>
  <dcterms:created xsi:type="dcterms:W3CDTF">2025-05-19T07:38:34Z</dcterms:created>
  <dcterms:modified xsi:type="dcterms:W3CDTF">2025-05-19T10:20:12Z</dcterms:modified>
</cp:coreProperties>
</file>